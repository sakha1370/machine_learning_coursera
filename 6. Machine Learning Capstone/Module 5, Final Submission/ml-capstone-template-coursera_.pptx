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654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0844" y="1898091"/>
            <a:ext cx="9622790" cy="2583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6400"/>
            <a:ext cx="10293985" cy="1184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7049" y="1328394"/>
            <a:ext cx="10580370" cy="3656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31744" y="3697203"/>
            <a:ext cx="5761355" cy="3117850"/>
            <a:chOff x="5731744" y="3697203"/>
            <a:chExt cx="5761355" cy="3117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1744" y="3697203"/>
              <a:ext cx="4889792" cy="31173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06785" y="5244465"/>
              <a:ext cx="885825" cy="76200"/>
            </a:xfrm>
            <a:custGeom>
              <a:avLst/>
              <a:gdLst/>
              <a:ahLst/>
              <a:cxnLst/>
              <a:rect l="l" t="t" r="r" b="b"/>
              <a:pathLst>
                <a:path w="885825" h="76200">
                  <a:moveTo>
                    <a:pt x="7620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76200" y="47625"/>
                  </a:lnTo>
                  <a:lnTo>
                    <a:pt x="76200" y="28575"/>
                  </a:lnTo>
                  <a:close/>
                </a:path>
                <a:path w="885825" h="76200">
                  <a:moveTo>
                    <a:pt x="152400" y="28575"/>
                  </a:moveTo>
                  <a:lnTo>
                    <a:pt x="133350" y="28575"/>
                  </a:lnTo>
                  <a:lnTo>
                    <a:pt x="133350" y="47625"/>
                  </a:lnTo>
                  <a:lnTo>
                    <a:pt x="152400" y="47625"/>
                  </a:lnTo>
                  <a:lnTo>
                    <a:pt x="152400" y="28575"/>
                  </a:lnTo>
                  <a:close/>
                </a:path>
                <a:path w="885825" h="76200">
                  <a:moveTo>
                    <a:pt x="285750" y="28575"/>
                  </a:moveTo>
                  <a:lnTo>
                    <a:pt x="209550" y="28575"/>
                  </a:lnTo>
                  <a:lnTo>
                    <a:pt x="209550" y="47625"/>
                  </a:lnTo>
                  <a:lnTo>
                    <a:pt x="285750" y="47625"/>
                  </a:lnTo>
                  <a:lnTo>
                    <a:pt x="285750" y="28575"/>
                  </a:lnTo>
                  <a:close/>
                </a:path>
                <a:path w="885825" h="76200">
                  <a:moveTo>
                    <a:pt x="361950" y="28575"/>
                  </a:moveTo>
                  <a:lnTo>
                    <a:pt x="342900" y="28575"/>
                  </a:lnTo>
                  <a:lnTo>
                    <a:pt x="342900" y="47625"/>
                  </a:lnTo>
                  <a:lnTo>
                    <a:pt x="361950" y="47625"/>
                  </a:lnTo>
                  <a:lnTo>
                    <a:pt x="361950" y="28575"/>
                  </a:lnTo>
                  <a:close/>
                </a:path>
                <a:path w="885825" h="76200">
                  <a:moveTo>
                    <a:pt x="495300" y="28575"/>
                  </a:moveTo>
                  <a:lnTo>
                    <a:pt x="419100" y="28575"/>
                  </a:lnTo>
                  <a:lnTo>
                    <a:pt x="419100" y="47625"/>
                  </a:lnTo>
                  <a:lnTo>
                    <a:pt x="495300" y="47625"/>
                  </a:lnTo>
                  <a:lnTo>
                    <a:pt x="495300" y="28575"/>
                  </a:lnTo>
                  <a:close/>
                </a:path>
                <a:path w="885825" h="76200">
                  <a:moveTo>
                    <a:pt x="571500" y="28575"/>
                  </a:moveTo>
                  <a:lnTo>
                    <a:pt x="552450" y="28575"/>
                  </a:lnTo>
                  <a:lnTo>
                    <a:pt x="552450" y="47625"/>
                  </a:lnTo>
                  <a:lnTo>
                    <a:pt x="571500" y="47625"/>
                  </a:lnTo>
                  <a:lnTo>
                    <a:pt x="571500" y="28575"/>
                  </a:lnTo>
                  <a:close/>
                </a:path>
                <a:path w="885825" h="76200">
                  <a:moveTo>
                    <a:pt x="704850" y="28575"/>
                  </a:moveTo>
                  <a:lnTo>
                    <a:pt x="628650" y="28575"/>
                  </a:lnTo>
                  <a:lnTo>
                    <a:pt x="628650" y="47625"/>
                  </a:lnTo>
                  <a:lnTo>
                    <a:pt x="704850" y="47625"/>
                  </a:lnTo>
                  <a:lnTo>
                    <a:pt x="704850" y="28575"/>
                  </a:lnTo>
                  <a:close/>
                </a:path>
                <a:path w="885825" h="76200">
                  <a:moveTo>
                    <a:pt x="781050" y="28575"/>
                  </a:moveTo>
                  <a:lnTo>
                    <a:pt x="762000" y="28575"/>
                  </a:lnTo>
                  <a:lnTo>
                    <a:pt x="762000" y="47625"/>
                  </a:lnTo>
                  <a:lnTo>
                    <a:pt x="781050" y="47625"/>
                  </a:lnTo>
                  <a:lnTo>
                    <a:pt x="781050" y="28575"/>
                  </a:lnTo>
                  <a:close/>
                </a:path>
                <a:path w="885825" h="76200">
                  <a:moveTo>
                    <a:pt x="809625" y="0"/>
                  </a:moveTo>
                  <a:lnTo>
                    <a:pt x="809625" y="76200"/>
                  </a:lnTo>
                  <a:lnTo>
                    <a:pt x="885825" y="38100"/>
                  </a:lnTo>
                  <a:lnTo>
                    <a:pt x="8096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0606785" y="4651295"/>
            <a:ext cx="1377315" cy="511809"/>
            <a:chOff x="10606785" y="4651295"/>
            <a:chExt cx="1377315" cy="511809"/>
          </a:xfrm>
        </p:grpSpPr>
        <p:sp>
          <p:nvSpPr>
            <p:cNvPr id="6" name="object 6"/>
            <p:cNvSpPr/>
            <p:nvPr/>
          </p:nvSpPr>
          <p:spPr>
            <a:xfrm>
              <a:off x="11514850" y="4660956"/>
              <a:ext cx="459740" cy="492759"/>
            </a:xfrm>
            <a:custGeom>
              <a:avLst/>
              <a:gdLst/>
              <a:ahLst/>
              <a:cxnLst/>
              <a:rect l="l" t="t" r="r" b="b"/>
              <a:pathLst>
                <a:path w="459740" h="492760">
                  <a:moveTo>
                    <a:pt x="99672" y="492385"/>
                  </a:moveTo>
                  <a:lnTo>
                    <a:pt x="99672" y="369698"/>
                  </a:lnTo>
                  <a:lnTo>
                    <a:pt x="107203" y="325604"/>
                  </a:lnTo>
                  <a:lnTo>
                    <a:pt x="128060" y="288108"/>
                  </a:lnTo>
                  <a:lnTo>
                    <a:pt x="159640" y="259510"/>
                  </a:lnTo>
                  <a:lnTo>
                    <a:pt x="199342" y="242110"/>
                  </a:lnTo>
                  <a:lnTo>
                    <a:pt x="181419" y="230914"/>
                  </a:lnTo>
                  <a:lnTo>
                    <a:pt x="167481" y="215117"/>
                  </a:lnTo>
                  <a:lnTo>
                    <a:pt x="158445" y="195639"/>
                  </a:lnTo>
                  <a:lnTo>
                    <a:pt x="155230" y="173401"/>
                  </a:lnTo>
                  <a:lnTo>
                    <a:pt x="160999" y="144389"/>
                  </a:lnTo>
                  <a:lnTo>
                    <a:pt x="176877" y="120442"/>
                  </a:lnTo>
                  <a:lnTo>
                    <a:pt x="200721" y="104164"/>
                  </a:lnTo>
                  <a:lnTo>
                    <a:pt x="230387" y="98159"/>
                  </a:lnTo>
                  <a:lnTo>
                    <a:pt x="260056" y="103934"/>
                  </a:lnTo>
                  <a:lnTo>
                    <a:pt x="283905" y="119831"/>
                  </a:lnTo>
                  <a:lnTo>
                    <a:pt x="299788" y="143702"/>
                  </a:lnTo>
                  <a:lnTo>
                    <a:pt x="305559" y="173401"/>
                  </a:lnTo>
                  <a:lnTo>
                    <a:pt x="302341" y="195639"/>
                  </a:lnTo>
                  <a:lnTo>
                    <a:pt x="293301" y="215117"/>
                  </a:lnTo>
                  <a:lnTo>
                    <a:pt x="279358" y="230914"/>
                  </a:lnTo>
                  <a:lnTo>
                    <a:pt x="261433" y="242110"/>
                  </a:lnTo>
                  <a:lnTo>
                    <a:pt x="301136" y="258822"/>
                  </a:lnTo>
                  <a:lnTo>
                    <a:pt x="332719" y="287497"/>
                  </a:lnTo>
                  <a:lnTo>
                    <a:pt x="353578" y="325375"/>
                  </a:lnTo>
                  <a:lnTo>
                    <a:pt x="361110" y="369698"/>
                  </a:lnTo>
                  <a:lnTo>
                    <a:pt x="361110" y="492385"/>
                  </a:lnTo>
                </a:path>
                <a:path w="459740" h="492760">
                  <a:moveTo>
                    <a:pt x="459145" y="394235"/>
                  </a:moveTo>
                  <a:lnTo>
                    <a:pt x="459145" y="271547"/>
                  </a:lnTo>
                  <a:lnTo>
                    <a:pt x="451613" y="227457"/>
                  </a:lnTo>
                  <a:lnTo>
                    <a:pt x="430753" y="189960"/>
                  </a:lnTo>
                  <a:lnTo>
                    <a:pt x="399170" y="161359"/>
                  </a:lnTo>
                  <a:lnTo>
                    <a:pt x="359468" y="143951"/>
                  </a:lnTo>
                  <a:lnTo>
                    <a:pt x="377393" y="132757"/>
                  </a:lnTo>
                  <a:lnTo>
                    <a:pt x="391336" y="116964"/>
                  </a:lnTo>
                  <a:lnTo>
                    <a:pt x="400376" y="97491"/>
                  </a:lnTo>
                  <a:lnTo>
                    <a:pt x="403594" y="75256"/>
                  </a:lnTo>
                  <a:lnTo>
                    <a:pt x="397822" y="46242"/>
                  </a:lnTo>
                  <a:lnTo>
                    <a:pt x="381939" y="22290"/>
                  </a:lnTo>
                  <a:lnTo>
                    <a:pt x="358090" y="6007"/>
                  </a:lnTo>
                  <a:lnTo>
                    <a:pt x="328422" y="0"/>
                  </a:lnTo>
                  <a:lnTo>
                    <a:pt x="298761" y="5777"/>
                  </a:lnTo>
                  <a:lnTo>
                    <a:pt x="274917" y="21678"/>
                  </a:lnTo>
                  <a:lnTo>
                    <a:pt x="259035" y="45554"/>
                  </a:lnTo>
                  <a:lnTo>
                    <a:pt x="253264" y="75256"/>
                  </a:lnTo>
                  <a:lnTo>
                    <a:pt x="253597" y="82843"/>
                  </a:lnTo>
                  <a:lnTo>
                    <a:pt x="254698" y="90586"/>
                  </a:lnTo>
                  <a:lnTo>
                    <a:pt x="256716" y="98022"/>
                  </a:lnTo>
                  <a:lnTo>
                    <a:pt x="259805" y="104693"/>
                  </a:lnTo>
                </a:path>
                <a:path w="459740" h="492760">
                  <a:moveTo>
                    <a:pt x="199342" y="104693"/>
                  </a:moveTo>
                  <a:lnTo>
                    <a:pt x="201743" y="97335"/>
                  </a:lnTo>
                  <a:lnTo>
                    <a:pt x="203838" y="89974"/>
                  </a:lnTo>
                  <a:lnTo>
                    <a:pt x="205320" y="82614"/>
                  </a:lnTo>
                  <a:lnTo>
                    <a:pt x="205882" y="75256"/>
                  </a:lnTo>
                  <a:lnTo>
                    <a:pt x="200111" y="46242"/>
                  </a:lnTo>
                  <a:lnTo>
                    <a:pt x="184229" y="22289"/>
                  </a:lnTo>
                  <a:lnTo>
                    <a:pt x="160385" y="6006"/>
                  </a:lnTo>
                  <a:lnTo>
                    <a:pt x="130724" y="0"/>
                  </a:lnTo>
                  <a:lnTo>
                    <a:pt x="101054" y="5777"/>
                  </a:lnTo>
                  <a:lnTo>
                    <a:pt x="77206" y="21678"/>
                  </a:lnTo>
                  <a:lnTo>
                    <a:pt x="61325" y="45554"/>
                  </a:lnTo>
                  <a:lnTo>
                    <a:pt x="55556" y="75256"/>
                  </a:lnTo>
                  <a:lnTo>
                    <a:pt x="58772" y="97491"/>
                  </a:lnTo>
                  <a:lnTo>
                    <a:pt x="67810" y="116964"/>
                  </a:lnTo>
                  <a:lnTo>
                    <a:pt x="81750" y="132757"/>
                  </a:lnTo>
                  <a:lnTo>
                    <a:pt x="99672" y="143951"/>
                  </a:lnTo>
                  <a:lnTo>
                    <a:pt x="59972" y="160671"/>
                  </a:lnTo>
                  <a:lnTo>
                    <a:pt x="28390" y="189349"/>
                  </a:lnTo>
                  <a:lnTo>
                    <a:pt x="7531" y="227227"/>
                  </a:lnTo>
                  <a:lnTo>
                    <a:pt x="0" y="271547"/>
                  </a:lnTo>
                  <a:lnTo>
                    <a:pt x="0" y="394235"/>
                  </a:lnTo>
                </a:path>
              </a:pathLst>
            </a:custGeom>
            <a:ln w="193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606785" y="4997069"/>
              <a:ext cx="885825" cy="76200"/>
            </a:xfrm>
            <a:custGeom>
              <a:avLst/>
              <a:gdLst/>
              <a:ahLst/>
              <a:cxnLst/>
              <a:rect l="l" t="t" r="r" b="b"/>
              <a:pathLst>
                <a:path w="885825" h="76200">
                  <a:moveTo>
                    <a:pt x="76200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76200" y="47624"/>
                  </a:lnTo>
                  <a:lnTo>
                    <a:pt x="76200" y="28574"/>
                  </a:lnTo>
                  <a:close/>
                </a:path>
                <a:path w="885825" h="76200">
                  <a:moveTo>
                    <a:pt x="152400" y="28574"/>
                  </a:moveTo>
                  <a:lnTo>
                    <a:pt x="133350" y="28574"/>
                  </a:lnTo>
                  <a:lnTo>
                    <a:pt x="133350" y="47624"/>
                  </a:lnTo>
                  <a:lnTo>
                    <a:pt x="152400" y="47624"/>
                  </a:lnTo>
                  <a:lnTo>
                    <a:pt x="152400" y="28574"/>
                  </a:lnTo>
                  <a:close/>
                </a:path>
                <a:path w="885825" h="76200">
                  <a:moveTo>
                    <a:pt x="285750" y="28574"/>
                  </a:moveTo>
                  <a:lnTo>
                    <a:pt x="209550" y="28574"/>
                  </a:lnTo>
                  <a:lnTo>
                    <a:pt x="209550" y="47624"/>
                  </a:lnTo>
                  <a:lnTo>
                    <a:pt x="285750" y="47624"/>
                  </a:lnTo>
                  <a:lnTo>
                    <a:pt x="285750" y="28574"/>
                  </a:lnTo>
                  <a:close/>
                </a:path>
                <a:path w="885825" h="76200">
                  <a:moveTo>
                    <a:pt x="361950" y="28574"/>
                  </a:moveTo>
                  <a:lnTo>
                    <a:pt x="342900" y="28574"/>
                  </a:lnTo>
                  <a:lnTo>
                    <a:pt x="342900" y="47624"/>
                  </a:lnTo>
                  <a:lnTo>
                    <a:pt x="361950" y="47624"/>
                  </a:lnTo>
                  <a:lnTo>
                    <a:pt x="361950" y="28574"/>
                  </a:lnTo>
                  <a:close/>
                </a:path>
                <a:path w="885825" h="76200">
                  <a:moveTo>
                    <a:pt x="495300" y="28574"/>
                  </a:moveTo>
                  <a:lnTo>
                    <a:pt x="419100" y="28574"/>
                  </a:lnTo>
                  <a:lnTo>
                    <a:pt x="419100" y="47624"/>
                  </a:lnTo>
                  <a:lnTo>
                    <a:pt x="495300" y="47624"/>
                  </a:lnTo>
                  <a:lnTo>
                    <a:pt x="495300" y="28574"/>
                  </a:lnTo>
                  <a:close/>
                </a:path>
                <a:path w="885825" h="76200">
                  <a:moveTo>
                    <a:pt x="571500" y="28574"/>
                  </a:moveTo>
                  <a:lnTo>
                    <a:pt x="552450" y="28574"/>
                  </a:lnTo>
                  <a:lnTo>
                    <a:pt x="552450" y="47624"/>
                  </a:lnTo>
                  <a:lnTo>
                    <a:pt x="571500" y="47624"/>
                  </a:lnTo>
                  <a:lnTo>
                    <a:pt x="571500" y="28574"/>
                  </a:lnTo>
                  <a:close/>
                </a:path>
                <a:path w="885825" h="76200">
                  <a:moveTo>
                    <a:pt x="704850" y="28574"/>
                  </a:moveTo>
                  <a:lnTo>
                    <a:pt x="628650" y="28574"/>
                  </a:lnTo>
                  <a:lnTo>
                    <a:pt x="628650" y="47624"/>
                  </a:lnTo>
                  <a:lnTo>
                    <a:pt x="704850" y="47624"/>
                  </a:lnTo>
                  <a:lnTo>
                    <a:pt x="704850" y="28574"/>
                  </a:lnTo>
                  <a:close/>
                </a:path>
                <a:path w="885825" h="76200">
                  <a:moveTo>
                    <a:pt x="781050" y="28574"/>
                  </a:moveTo>
                  <a:lnTo>
                    <a:pt x="762000" y="28574"/>
                  </a:lnTo>
                  <a:lnTo>
                    <a:pt x="762000" y="47624"/>
                  </a:lnTo>
                  <a:lnTo>
                    <a:pt x="781050" y="47624"/>
                  </a:lnTo>
                  <a:lnTo>
                    <a:pt x="781050" y="28574"/>
                  </a:lnTo>
                  <a:close/>
                </a:path>
                <a:path w="885825" h="76200">
                  <a:moveTo>
                    <a:pt x="809625" y="0"/>
                  </a:moveTo>
                  <a:lnTo>
                    <a:pt x="809625" y="76199"/>
                  </a:lnTo>
                  <a:lnTo>
                    <a:pt x="885825" y="38099"/>
                  </a:lnTo>
                  <a:lnTo>
                    <a:pt x="8096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54100" y="1965705"/>
            <a:ext cx="984250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0000"/>
                </a:solidFill>
              </a:rPr>
              <a:t>Build</a:t>
            </a:r>
            <a:r>
              <a:rPr spc="-130" dirty="0">
                <a:solidFill>
                  <a:srgbClr val="000000"/>
                </a:solidFill>
              </a:rPr>
              <a:t> </a:t>
            </a:r>
            <a:r>
              <a:rPr spc="-270" dirty="0">
                <a:solidFill>
                  <a:srgbClr val="000000"/>
                </a:solidFill>
              </a:rPr>
              <a:t>a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110" dirty="0">
                <a:solidFill>
                  <a:srgbClr val="000000"/>
                </a:solidFill>
              </a:rPr>
              <a:t>Personalized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Online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Course </a:t>
            </a:r>
            <a:r>
              <a:rPr spc="-185" dirty="0">
                <a:solidFill>
                  <a:srgbClr val="000000"/>
                </a:solidFill>
              </a:rPr>
              <a:t>Recommender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75" dirty="0">
                <a:solidFill>
                  <a:srgbClr val="000000"/>
                </a:solidFill>
              </a:rPr>
              <a:t>System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with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spc="-135" dirty="0">
                <a:solidFill>
                  <a:srgbClr val="000000"/>
                </a:solidFill>
              </a:rPr>
              <a:t>Machine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Learning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30197" y="4181678"/>
            <a:ext cx="28111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latin typeface="Microsoft Sans Serif"/>
                <a:cs typeface="Microsoft Sans Serif"/>
              </a:rPr>
              <a:t>&lt;Sadegh</a:t>
            </a:r>
            <a:r>
              <a:rPr sz="2400" spc="-120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Khajepour&gt;</a:t>
            </a:r>
            <a:endParaRPr sz="2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125" dirty="0">
                <a:latin typeface="Microsoft Sans Serif"/>
                <a:cs typeface="Microsoft Sans Serif"/>
              </a:rPr>
              <a:t>&lt;202</a:t>
            </a:r>
            <a:r>
              <a:rPr lang="fa-IR" sz="2400" spc="125" dirty="0">
                <a:latin typeface="Microsoft Sans Serif"/>
                <a:cs typeface="Microsoft Sans Serif"/>
              </a:rPr>
              <a:t>6</a:t>
            </a:r>
            <a:r>
              <a:rPr sz="2400" spc="125" dirty="0">
                <a:latin typeface="Microsoft Sans Serif"/>
                <a:cs typeface="Microsoft Sans Serif"/>
              </a:rPr>
              <a:t>/0</a:t>
            </a:r>
            <a:r>
              <a:rPr lang="fa-IR" sz="2400" spc="125" dirty="0">
                <a:latin typeface="Microsoft Sans Serif"/>
                <a:cs typeface="Microsoft Sans Serif"/>
              </a:rPr>
              <a:t>1</a:t>
            </a:r>
            <a:r>
              <a:rPr sz="2400" spc="125" dirty="0">
                <a:latin typeface="Microsoft Sans Serif"/>
                <a:cs typeface="Microsoft Sans Serif"/>
              </a:rPr>
              <a:t>/0</a:t>
            </a:r>
            <a:r>
              <a:rPr lang="fa-IR" sz="2400" spc="125" dirty="0">
                <a:latin typeface="Microsoft Sans Serif"/>
                <a:cs typeface="Microsoft Sans Serif"/>
              </a:rPr>
              <a:t>8</a:t>
            </a:r>
            <a:r>
              <a:rPr sz="2400" spc="125" dirty="0">
                <a:latin typeface="Microsoft Sans Serif"/>
                <a:cs typeface="Microsoft Sans Serif"/>
              </a:rPr>
              <a:t>&gt;</a:t>
            </a:r>
            <a:endParaRPr sz="2400" dirty="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606785" y="5413194"/>
            <a:ext cx="1377315" cy="511809"/>
            <a:chOff x="10606785" y="5413194"/>
            <a:chExt cx="1377315" cy="511809"/>
          </a:xfrm>
        </p:grpSpPr>
        <p:sp>
          <p:nvSpPr>
            <p:cNvPr id="11" name="object 11"/>
            <p:cNvSpPr/>
            <p:nvPr/>
          </p:nvSpPr>
          <p:spPr>
            <a:xfrm>
              <a:off x="10606785" y="5479160"/>
              <a:ext cx="885825" cy="76200"/>
            </a:xfrm>
            <a:custGeom>
              <a:avLst/>
              <a:gdLst/>
              <a:ahLst/>
              <a:cxnLst/>
              <a:rect l="l" t="t" r="r" b="b"/>
              <a:pathLst>
                <a:path w="885825" h="76200">
                  <a:moveTo>
                    <a:pt x="7620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76200" y="47625"/>
                  </a:lnTo>
                  <a:lnTo>
                    <a:pt x="76200" y="28575"/>
                  </a:lnTo>
                  <a:close/>
                </a:path>
                <a:path w="885825" h="76200">
                  <a:moveTo>
                    <a:pt x="152400" y="28575"/>
                  </a:moveTo>
                  <a:lnTo>
                    <a:pt x="133350" y="28575"/>
                  </a:lnTo>
                  <a:lnTo>
                    <a:pt x="133350" y="47625"/>
                  </a:lnTo>
                  <a:lnTo>
                    <a:pt x="152400" y="47625"/>
                  </a:lnTo>
                  <a:lnTo>
                    <a:pt x="152400" y="28575"/>
                  </a:lnTo>
                  <a:close/>
                </a:path>
                <a:path w="885825" h="76200">
                  <a:moveTo>
                    <a:pt x="285750" y="28575"/>
                  </a:moveTo>
                  <a:lnTo>
                    <a:pt x="209550" y="28575"/>
                  </a:lnTo>
                  <a:lnTo>
                    <a:pt x="209550" y="47625"/>
                  </a:lnTo>
                  <a:lnTo>
                    <a:pt x="285750" y="47625"/>
                  </a:lnTo>
                  <a:lnTo>
                    <a:pt x="285750" y="28575"/>
                  </a:lnTo>
                  <a:close/>
                </a:path>
                <a:path w="885825" h="76200">
                  <a:moveTo>
                    <a:pt x="361950" y="28575"/>
                  </a:moveTo>
                  <a:lnTo>
                    <a:pt x="342900" y="28575"/>
                  </a:lnTo>
                  <a:lnTo>
                    <a:pt x="342900" y="47625"/>
                  </a:lnTo>
                  <a:lnTo>
                    <a:pt x="361950" y="47625"/>
                  </a:lnTo>
                  <a:lnTo>
                    <a:pt x="361950" y="28575"/>
                  </a:lnTo>
                  <a:close/>
                </a:path>
                <a:path w="885825" h="76200">
                  <a:moveTo>
                    <a:pt x="495300" y="28575"/>
                  </a:moveTo>
                  <a:lnTo>
                    <a:pt x="419100" y="28575"/>
                  </a:lnTo>
                  <a:lnTo>
                    <a:pt x="419100" y="47625"/>
                  </a:lnTo>
                  <a:lnTo>
                    <a:pt x="495300" y="47625"/>
                  </a:lnTo>
                  <a:lnTo>
                    <a:pt x="495300" y="28575"/>
                  </a:lnTo>
                  <a:close/>
                </a:path>
                <a:path w="885825" h="76200">
                  <a:moveTo>
                    <a:pt x="571500" y="28575"/>
                  </a:moveTo>
                  <a:lnTo>
                    <a:pt x="552450" y="28575"/>
                  </a:lnTo>
                  <a:lnTo>
                    <a:pt x="552450" y="47625"/>
                  </a:lnTo>
                  <a:lnTo>
                    <a:pt x="571500" y="47625"/>
                  </a:lnTo>
                  <a:lnTo>
                    <a:pt x="571500" y="28575"/>
                  </a:lnTo>
                  <a:close/>
                </a:path>
                <a:path w="885825" h="76200">
                  <a:moveTo>
                    <a:pt x="704850" y="28575"/>
                  </a:moveTo>
                  <a:lnTo>
                    <a:pt x="628650" y="28575"/>
                  </a:lnTo>
                  <a:lnTo>
                    <a:pt x="628650" y="47625"/>
                  </a:lnTo>
                  <a:lnTo>
                    <a:pt x="704850" y="47625"/>
                  </a:lnTo>
                  <a:lnTo>
                    <a:pt x="704850" y="28575"/>
                  </a:lnTo>
                  <a:close/>
                </a:path>
                <a:path w="885825" h="76200">
                  <a:moveTo>
                    <a:pt x="781050" y="28575"/>
                  </a:moveTo>
                  <a:lnTo>
                    <a:pt x="762000" y="28575"/>
                  </a:lnTo>
                  <a:lnTo>
                    <a:pt x="762000" y="47625"/>
                  </a:lnTo>
                  <a:lnTo>
                    <a:pt x="781050" y="47625"/>
                  </a:lnTo>
                  <a:lnTo>
                    <a:pt x="781050" y="28575"/>
                  </a:lnTo>
                  <a:close/>
                </a:path>
                <a:path w="885825" h="76200">
                  <a:moveTo>
                    <a:pt x="809625" y="0"/>
                  </a:moveTo>
                  <a:lnTo>
                    <a:pt x="809625" y="76200"/>
                  </a:lnTo>
                  <a:lnTo>
                    <a:pt x="885825" y="38100"/>
                  </a:lnTo>
                  <a:lnTo>
                    <a:pt x="8096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514850" y="5422854"/>
              <a:ext cx="459740" cy="492759"/>
            </a:xfrm>
            <a:custGeom>
              <a:avLst/>
              <a:gdLst/>
              <a:ahLst/>
              <a:cxnLst/>
              <a:rect l="l" t="t" r="r" b="b"/>
              <a:pathLst>
                <a:path w="459740" h="492760">
                  <a:moveTo>
                    <a:pt x="99672" y="492385"/>
                  </a:moveTo>
                  <a:lnTo>
                    <a:pt x="99672" y="369698"/>
                  </a:lnTo>
                  <a:lnTo>
                    <a:pt x="107203" y="325604"/>
                  </a:lnTo>
                  <a:lnTo>
                    <a:pt x="128060" y="288108"/>
                  </a:lnTo>
                  <a:lnTo>
                    <a:pt x="159640" y="259510"/>
                  </a:lnTo>
                  <a:lnTo>
                    <a:pt x="199342" y="242110"/>
                  </a:lnTo>
                  <a:lnTo>
                    <a:pt x="181419" y="230914"/>
                  </a:lnTo>
                  <a:lnTo>
                    <a:pt x="167481" y="215117"/>
                  </a:lnTo>
                  <a:lnTo>
                    <a:pt x="158445" y="195639"/>
                  </a:lnTo>
                  <a:lnTo>
                    <a:pt x="155230" y="173401"/>
                  </a:lnTo>
                  <a:lnTo>
                    <a:pt x="160999" y="144389"/>
                  </a:lnTo>
                  <a:lnTo>
                    <a:pt x="176877" y="120442"/>
                  </a:lnTo>
                  <a:lnTo>
                    <a:pt x="200721" y="104164"/>
                  </a:lnTo>
                  <a:lnTo>
                    <a:pt x="230387" y="98159"/>
                  </a:lnTo>
                  <a:lnTo>
                    <a:pt x="260056" y="103934"/>
                  </a:lnTo>
                  <a:lnTo>
                    <a:pt x="283905" y="119831"/>
                  </a:lnTo>
                  <a:lnTo>
                    <a:pt x="299788" y="143702"/>
                  </a:lnTo>
                  <a:lnTo>
                    <a:pt x="305559" y="173401"/>
                  </a:lnTo>
                  <a:lnTo>
                    <a:pt x="302341" y="195639"/>
                  </a:lnTo>
                  <a:lnTo>
                    <a:pt x="293301" y="215117"/>
                  </a:lnTo>
                  <a:lnTo>
                    <a:pt x="279358" y="230914"/>
                  </a:lnTo>
                  <a:lnTo>
                    <a:pt x="261433" y="242110"/>
                  </a:lnTo>
                  <a:lnTo>
                    <a:pt x="301136" y="258822"/>
                  </a:lnTo>
                  <a:lnTo>
                    <a:pt x="332719" y="287497"/>
                  </a:lnTo>
                  <a:lnTo>
                    <a:pt x="353578" y="325375"/>
                  </a:lnTo>
                  <a:lnTo>
                    <a:pt x="361110" y="369698"/>
                  </a:lnTo>
                  <a:lnTo>
                    <a:pt x="361110" y="492385"/>
                  </a:lnTo>
                </a:path>
                <a:path w="459740" h="492760">
                  <a:moveTo>
                    <a:pt x="459145" y="394235"/>
                  </a:moveTo>
                  <a:lnTo>
                    <a:pt x="459145" y="271547"/>
                  </a:lnTo>
                  <a:lnTo>
                    <a:pt x="451613" y="227456"/>
                  </a:lnTo>
                  <a:lnTo>
                    <a:pt x="430753" y="189960"/>
                  </a:lnTo>
                  <a:lnTo>
                    <a:pt x="399170" y="161359"/>
                  </a:lnTo>
                  <a:lnTo>
                    <a:pt x="359468" y="143951"/>
                  </a:lnTo>
                  <a:lnTo>
                    <a:pt x="377393" y="132757"/>
                  </a:lnTo>
                  <a:lnTo>
                    <a:pt x="391336" y="116964"/>
                  </a:lnTo>
                  <a:lnTo>
                    <a:pt x="400376" y="97491"/>
                  </a:lnTo>
                  <a:lnTo>
                    <a:pt x="403594" y="75256"/>
                  </a:lnTo>
                  <a:lnTo>
                    <a:pt x="397822" y="46242"/>
                  </a:lnTo>
                  <a:lnTo>
                    <a:pt x="381939" y="22289"/>
                  </a:lnTo>
                  <a:lnTo>
                    <a:pt x="358090" y="6007"/>
                  </a:lnTo>
                  <a:lnTo>
                    <a:pt x="328422" y="0"/>
                  </a:lnTo>
                  <a:lnTo>
                    <a:pt x="298761" y="5777"/>
                  </a:lnTo>
                  <a:lnTo>
                    <a:pt x="274917" y="21678"/>
                  </a:lnTo>
                  <a:lnTo>
                    <a:pt x="259035" y="45554"/>
                  </a:lnTo>
                  <a:lnTo>
                    <a:pt x="253264" y="75256"/>
                  </a:lnTo>
                  <a:lnTo>
                    <a:pt x="253597" y="82843"/>
                  </a:lnTo>
                  <a:lnTo>
                    <a:pt x="254698" y="90585"/>
                  </a:lnTo>
                  <a:lnTo>
                    <a:pt x="256716" y="98022"/>
                  </a:lnTo>
                  <a:lnTo>
                    <a:pt x="259805" y="104693"/>
                  </a:lnTo>
                </a:path>
                <a:path w="459740" h="492760">
                  <a:moveTo>
                    <a:pt x="199342" y="104693"/>
                  </a:moveTo>
                  <a:lnTo>
                    <a:pt x="201743" y="97335"/>
                  </a:lnTo>
                  <a:lnTo>
                    <a:pt x="203838" y="89974"/>
                  </a:lnTo>
                  <a:lnTo>
                    <a:pt x="205320" y="82614"/>
                  </a:lnTo>
                  <a:lnTo>
                    <a:pt x="205882" y="75256"/>
                  </a:lnTo>
                  <a:lnTo>
                    <a:pt x="200111" y="46242"/>
                  </a:lnTo>
                  <a:lnTo>
                    <a:pt x="184229" y="22289"/>
                  </a:lnTo>
                  <a:lnTo>
                    <a:pt x="160385" y="6006"/>
                  </a:lnTo>
                  <a:lnTo>
                    <a:pt x="130724" y="0"/>
                  </a:lnTo>
                  <a:lnTo>
                    <a:pt x="101054" y="5777"/>
                  </a:lnTo>
                  <a:lnTo>
                    <a:pt x="77206" y="21678"/>
                  </a:lnTo>
                  <a:lnTo>
                    <a:pt x="61325" y="45554"/>
                  </a:lnTo>
                  <a:lnTo>
                    <a:pt x="55556" y="75256"/>
                  </a:lnTo>
                  <a:lnTo>
                    <a:pt x="58772" y="97491"/>
                  </a:lnTo>
                  <a:lnTo>
                    <a:pt x="67810" y="116964"/>
                  </a:lnTo>
                  <a:lnTo>
                    <a:pt x="81750" y="132757"/>
                  </a:lnTo>
                  <a:lnTo>
                    <a:pt x="99672" y="143951"/>
                  </a:lnTo>
                  <a:lnTo>
                    <a:pt x="59972" y="160671"/>
                  </a:lnTo>
                  <a:lnTo>
                    <a:pt x="28390" y="189349"/>
                  </a:lnTo>
                  <a:lnTo>
                    <a:pt x="7531" y="227227"/>
                  </a:lnTo>
                  <a:lnTo>
                    <a:pt x="0" y="271547"/>
                  </a:lnTo>
                  <a:lnTo>
                    <a:pt x="0" y="394235"/>
                  </a:lnTo>
                </a:path>
              </a:pathLst>
            </a:custGeom>
            <a:ln w="193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232006" y="6080861"/>
            <a:ext cx="1479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0" dirty="0">
                <a:solidFill>
                  <a:srgbClr val="1C7CDB"/>
                </a:solidFill>
                <a:latin typeface="Microsoft Sans Serif"/>
                <a:cs typeface="Microsoft Sans Serif"/>
              </a:rPr>
              <a:t>2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7640" y="1955393"/>
            <a:ext cx="8641080" cy="292036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Introduction</a:t>
            </a:r>
            <a:r>
              <a:rPr sz="20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Background</a:t>
            </a:r>
            <a:endParaRPr sz="20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endParaRPr sz="20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Content-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based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Recommender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System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Unsupervised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Learning</a:t>
            </a:r>
            <a:endParaRPr sz="20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Collaborative-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filtering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based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Recommender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System</a:t>
            </a:r>
            <a:r>
              <a:rPr sz="20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Supervised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learning</a:t>
            </a:r>
            <a:endParaRPr sz="20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395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Conclusion</a:t>
            </a:r>
            <a:endParaRPr sz="20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Appendix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8969" y="386537"/>
            <a:ext cx="1583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6881" y="436625"/>
            <a:ext cx="26435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881" y="1284858"/>
            <a:ext cx="10473055" cy="5064760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730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Project</a:t>
            </a:r>
            <a:r>
              <a:rPr sz="2400" b="1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Background</a:t>
            </a:r>
            <a:r>
              <a:rPr sz="2400" b="1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400" b="1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Context:</a:t>
            </a:r>
            <a:endParaRPr sz="2400" dirty="0">
              <a:latin typeface="Microsoft Sans Serif"/>
              <a:cs typeface="Microsoft Sans Serif"/>
            </a:endParaRPr>
          </a:p>
          <a:p>
            <a:pPr marL="469900" marR="102870" algn="just">
              <a:lnSpc>
                <a:spcPts val="1939"/>
              </a:lnSpc>
              <a:spcBef>
                <a:spcPts val="1475"/>
              </a:spcBef>
            </a:pP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3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800" spc="3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project,</a:t>
            </a:r>
            <a:r>
              <a:rPr sz="1800" spc="3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800" spc="3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will</a:t>
            </a:r>
            <a:r>
              <a:rPr sz="1800" spc="3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be</a:t>
            </a:r>
            <a:r>
              <a:rPr sz="1800" spc="3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developing</a:t>
            </a:r>
            <a:r>
              <a:rPr sz="1800" spc="3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00" spc="3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content-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based</a:t>
            </a:r>
            <a:r>
              <a:rPr sz="1800" spc="3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recommender</a:t>
            </a:r>
            <a:r>
              <a:rPr sz="1800" spc="3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system.</a:t>
            </a:r>
            <a:r>
              <a:rPr sz="1800" spc="3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00" spc="3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content-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based 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recommender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uses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item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features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recommend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items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similar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those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user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has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shown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interest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in.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type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system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analyzes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attributes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items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suggests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similar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items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based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content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they</a:t>
            </a:r>
            <a:r>
              <a:rPr sz="18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contain.</a:t>
            </a:r>
            <a:endParaRPr sz="1800" dirty="0">
              <a:latin typeface="Microsoft Sans Serif"/>
              <a:cs typeface="Microsoft Sans Serif"/>
            </a:endParaRPr>
          </a:p>
          <a:p>
            <a:pPr marL="240029" indent="-227329">
              <a:lnSpc>
                <a:spcPct val="100000"/>
              </a:lnSpc>
              <a:spcBef>
                <a:spcPts val="1050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Problem</a:t>
            </a:r>
            <a:r>
              <a:rPr sz="2400" b="1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Statement:</a:t>
            </a:r>
            <a:endParaRPr sz="2400" dirty="0">
              <a:latin typeface="Microsoft Sans Serif"/>
              <a:cs typeface="Microsoft Sans Serif"/>
            </a:endParaRPr>
          </a:p>
          <a:p>
            <a:pPr marL="469900" marR="104775" algn="just">
              <a:lnSpc>
                <a:spcPts val="1939"/>
              </a:lnSpc>
              <a:spcBef>
                <a:spcPts val="1475"/>
              </a:spcBef>
            </a:pP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goal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build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content-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based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recommender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system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effectively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suggests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relevant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items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to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users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based</a:t>
            </a:r>
            <a:r>
              <a:rPr sz="18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8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their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preferences.</a:t>
            </a:r>
            <a:r>
              <a:rPr sz="18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challenge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lies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selecting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implementing</a:t>
            </a:r>
            <a:r>
              <a:rPr sz="18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right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achieve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 optimal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recommendations.</a:t>
            </a:r>
            <a:endParaRPr sz="1800" dirty="0">
              <a:latin typeface="Microsoft Sans Serif"/>
              <a:cs typeface="Microsoft Sans Serif"/>
            </a:endParaRPr>
          </a:p>
          <a:p>
            <a:pPr marL="240029" indent="-227329">
              <a:lnSpc>
                <a:spcPct val="100000"/>
              </a:lnSpc>
              <a:spcBef>
                <a:spcPts val="1060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Hypotheses:</a:t>
            </a:r>
            <a:endParaRPr sz="2400" dirty="0">
              <a:latin typeface="Microsoft Sans Serif"/>
              <a:cs typeface="Microsoft Sans Serif"/>
            </a:endParaRPr>
          </a:p>
          <a:p>
            <a:pPr marL="469900" marR="102870" indent="69850" algn="just">
              <a:lnSpc>
                <a:spcPts val="1939"/>
              </a:lnSpc>
              <a:spcBef>
                <a:spcPts val="1460"/>
              </a:spcBef>
            </a:pP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8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hypothesize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different</a:t>
            </a:r>
            <a:r>
              <a:rPr sz="18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machine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learning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models,</a:t>
            </a:r>
            <a:r>
              <a:rPr sz="18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when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applied</a:t>
            </a:r>
            <a:r>
              <a:rPr sz="18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task</a:t>
            </a:r>
            <a:r>
              <a:rPr sz="18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content-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based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recommendation,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will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differently.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Our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objective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test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various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identify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one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provides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most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accurate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relevant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recommendations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users.</a:t>
            </a:r>
            <a:endParaRPr sz="1800" dirty="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  <a:spcBef>
                <a:spcPts val="1570"/>
              </a:spcBef>
            </a:pPr>
            <a:r>
              <a:rPr sz="1600" spc="20" dirty="0">
                <a:solidFill>
                  <a:srgbClr val="1C7CDB"/>
                </a:solidFill>
                <a:latin typeface="Microsoft Sans Serif"/>
                <a:cs typeface="Microsoft Sans Serif"/>
              </a:rPr>
              <a:t>3</a:t>
            </a:r>
            <a:endParaRPr sz="1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4" y="3541903"/>
            <a:ext cx="83324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0" dirty="0">
                <a:solidFill>
                  <a:srgbClr val="292929"/>
                </a:solidFill>
              </a:rPr>
              <a:t>Exploratory</a:t>
            </a:r>
            <a:r>
              <a:rPr sz="6000" spc="-265" dirty="0">
                <a:solidFill>
                  <a:srgbClr val="292929"/>
                </a:solidFill>
              </a:rPr>
              <a:t> </a:t>
            </a:r>
            <a:r>
              <a:rPr sz="6000" spc="-60" dirty="0">
                <a:solidFill>
                  <a:srgbClr val="292929"/>
                </a:solidFill>
              </a:rPr>
              <a:t>Data</a:t>
            </a:r>
            <a:r>
              <a:rPr sz="6000" spc="-260" dirty="0">
                <a:solidFill>
                  <a:srgbClr val="292929"/>
                </a:solidFill>
              </a:rPr>
              <a:t> </a:t>
            </a:r>
            <a:r>
              <a:rPr sz="6000" spc="-175" dirty="0">
                <a:solidFill>
                  <a:srgbClr val="292929"/>
                </a:solidFill>
              </a:rPr>
              <a:t>Analysis</a:t>
            </a:r>
            <a:endParaRPr sz="6000"/>
          </a:p>
        </p:txBody>
      </p:sp>
      <p:grpSp>
        <p:nvGrpSpPr>
          <p:cNvPr id="3" name="object 3"/>
          <p:cNvGrpSpPr/>
          <p:nvPr/>
        </p:nvGrpSpPr>
        <p:grpSpPr>
          <a:xfrm>
            <a:off x="10850374" y="5557941"/>
            <a:ext cx="1021715" cy="1020444"/>
            <a:chOff x="10850374" y="5557941"/>
            <a:chExt cx="1021715" cy="102044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14201" y="5983110"/>
              <a:ext cx="169775" cy="1695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69724" y="5577291"/>
              <a:ext cx="982980" cy="981710"/>
            </a:xfrm>
            <a:custGeom>
              <a:avLst/>
              <a:gdLst/>
              <a:ahLst/>
              <a:cxnLst/>
              <a:rect l="l" t="t" r="r" b="b"/>
              <a:pathLst>
                <a:path w="982979" h="981709">
                  <a:moveTo>
                    <a:pt x="0" y="0"/>
                  </a:moveTo>
                  <a:lnTo>
                    <a:pt x="0" y="981142"/>
                  </a:lnTo>
                  <a:lnTo>
                    <a:pt x="982969" y="981142"/>
                  </a:lnTo>
                </a:path>
                <a:path w="982979" h="981709">
                  <a:moveTo>
                    <a:pt x="851902" y="228920"/>
                  </a:moveTo>
                  <a:lnTo>
                    <a:pt x="982969" y="228920"/>
                  </a:lnTo>
                </a:path>
                <a:path w="982979" h="981709">
                  <a:moveTo>
                    <a:pt x="0" y="490566"/>
                  </a:moveTo>
                  <a:lnTo>
                    <a:pt x="163827" y="490566"/>
                  </a:lnTo>
                </a:path>
                <a:path w="982979" h="981709">
                  <a:moveTo>
                    <a:pt x="445614" y="706423"/>
                  </a:moveTo>
                  <a:lnTo>
                    <a:pt x="275229" y="536356"/>
                  </a:lnTo>
                </a:path>
                <a:path w="982979" h="981709">
                  <a:moveTo>
                    <a:pt x="760152" y="287800"/>
                  </a:moveTo>
                  <a:lnTo>
                    <a:pt x="524249" y="693333"/>
                  </a:lnTo>
                </a:path>
              </a:pathLst>
            </a:custGeom>
            <a:ln w="38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76316" y="6244729"/>
              <a:ext cx="169767" cy="1695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71209" y="5721463"/>
              <a:ext cx="169767" cy="1695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6400"/>
            <a:ext cx="53689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Course</a:t>
            </a:r>
            <a:r>
              <a:rPr spc="-110" dirty="0"/>
              <a:t> </a:t>
            </a:r>
            <a:r>
              <a:rPr spc="-40" dirty="0"/>
              <a:t>counts</a:t>
            </a:r>
            <a:r>
              <a:rPr spc="-120" dirty="0"/>
              <a:t> </a:t>
            </a:r>
            <a:r>
              <a:rPr dirty="0"/>
              <a:t>per</a:t>
            </a:r>
            <a:r>
              <a:rPr spc="-105" dirty="0"/>
              <a:t> </a:t>
            </a:r>
            <a:r>
              <a:rPr spc="-55" dirty="0"/>
              <a:t>genre</a:t>
            </a:r>
          </a:p>
        </p:txBody>
      </p:sp>
      <p:sp>
        <p:nvSpPr>
          <p:cNvPr id="3" name="object 3"/>
          <p:cNvSpPr/>
          <p:nvPr/>
        </p:nvSpPr>
        <p:spPr>
          <a:xfrm>
            <a:off x="855662" y="1690674"/>
            <a:ext cx="5890895" cy="4397375"/>
          </a:xfrm>
          <a:custGeom>
            <a:avLst/>
            <a:gdLst/>
            <a:ahLst/>
            <a:cxnLst/>
            <a:rect l="l" t="t" r="r" b="b"/>
            <a:pathLst>
              <a:path w="5890895" h="4397375">
                <a:moveTo>
                  <a:pt x="0" y="4396867"/>
                </a:moveTo>
                <a:lnTo>
                  <a:pt x="5890513" y="4396867"/>
                </a:lnTo>
                <a:lnTo>
                  <a:pt x="5890513" y="0"/>
                </a:lnTo>
                <a:lnTo>
                  <a:pt x="0" y="0"/>
                </a:lnTo>
                <a:lnTo>
                  <a:pt x="0" y="4396867"/>
                </a:lnTo>
                <a:close/>
              </a:path>
            </a:pathLst>
          </a:custGeom>
          <a:ln w="9525">
            <a:solidFill>
              <a:srgbClr val="0A48C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4618" y="1667636"/>
            <a:ext cx="5734685" cy="427926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7620">
              <a:lnSpc>
                <a:spcPts val="1540"/>
              </a:lnSpc>
              <a:spcBef>
                <a:spcPts val="459"/>
              </a:spcBef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b="1" spc="1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bar</a:t>
            </a:r>
            <a:r>
              <a:rPr sz="1600" b="1" spc="1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chart</a:t>
            </a:r>
            <a:r>
              <a:rPr sz="1600" b="1" spc="114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shows</a:t>
            </a:r>
            <a:r>
              <a:rPr sz="1600" b="1" spc="114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b="1" spc="1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number</a:t>
            </a:r>
            <a:r>
              <a:rPr sz="1600" b="1" spc="1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of</a:t>
            </a:r>
            <a:r>
              <a:rPr sz="1600" b="1" spc="1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courses</a:t>
            </a:r>
            <a:r>
              <a:rPr sz="1600" b="1" spc="1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available</a:t>
            </a:r>
            <a:r>
              <a:rPr sz="1600" b="1" spc="1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600" b="1" spc="1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different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genres</a:t>
            </a:r>
            <a:r>
              <a:rPr sz="1600" b="1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in</a:t>
            </a:r>
            <a:r>
              <a:rPr sz="16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6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learning</a:t>
            </a:r>
            <a:r>
              <a:rPr sz="1600" b="1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platform.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ts val="1730"/>
              </a:lnSpc>
              <a:spcBef>
                <a:spcPts val="625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Database</a:t>
            </a:r>
            <a:r>
              <a:rPr sz="1600" b="1" spc="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leads</a:t>
            </a:r>
            <a:r>
              <a:rPr sz="1600" spc="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with</a:t>
            </a:r>
            <a:r>
              <a:rPr sz="1600" spc="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nearly</a:t>
            </a:r>
            <a:r>
              <a:rPr sz="1600" spc="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80</a:t>
            </a:r>
            <a:r>
              <a:rPr sz="1600" spc="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courses,</a:t>
            </a:r>
            <a:r>
              <a:rPr sz="1600" spc="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indicating</a:t>
            </a:r>
            <a:r>
              <a:rPr sz="1600" spc="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high</a:t>
            </a:r>
            <a:r>
              <a:rPr sz="1600" spc="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demand</a:t>
            </a:r>
            <a:r>
              <a:rPr sz="1600" spc="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or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ts val="1730"/>
              </a:lnSpc>
            </a:pP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interest.</a:t>
            </a:r>
            <a:endParaRPr sz="1600">
              <a:latin typeface="Calibri"/>
              <a:cs typeface="Calibri"/>
            </a:endParaRPr>
          </a:p>
          <a:p>
            <a:pPr marL="241300" marR="5715" indent="-228600">
              <a:lnSpc>
                <a:spcPts val="154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Python</a:t>
            </a:r>
            <a:r>
              <a:rPr sz="1600" b="1" spc="434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600" spc="4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Cloud</a:t>
            </a:r>
            <a:r>
              <a:rPr sz="1600" b="1" spc="4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Computing</a:t>
            </a:r>
            <a:r>
              <a:rPr sz="1600" b="1" spc="4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follow</a:t>
            </a:r>
            <a:r>
              <a:rPr sz="1600" spc="4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with</a:t>
            </a:r>
            <a:r>
              <a:rPr sz="1600" spc="4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around</a:t>
            </a:r>
            <a:r>
              <a:rPr sz="1600" spc="434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70</a:t>
            </a:r>
            <a:r>
              <a:rPr sz="1600" spc="434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600" spc="4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60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courses,</a:t>
            </a:r>
            <a:r>
              <a:rPr sz="1600" spc="-8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respectively.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600" b="1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Analysis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also</a:t>
            </a:r>
            <a:r>
              <a:rPr sz="16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has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significant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presence.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ts val="1730"/>
              </a:lnSpc>
              <a:spcBef>
                <a:spcPts val="610"/>
              </a:spcBef>
              <a:buFont typeface="Arial"/>
              <a:buChar char="•"/>
              <a:tabLst>
                <a:tab pos="240665" algn="l"/>
              </a:tabLst>
            </a:pP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Mid-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tier</a:t>
            </a:r>
            <a:r>
              <a:rPr sz="1600" spc="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categories</a:t>
            </a:r>
            <a:r>
              <a:rPr sz="1600" spc="8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like</a:t>
            </a:r>
            <a:r>
              <a:rPr sz="1600" spc="8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Machine</a:t>
            </a:r>
            <a:r>
              <a:rPr sz="1600" b="1" spc="9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Learning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,</a:t>
            </a:r>
            <a:r>
              <a:rPr sz="1600" spc="10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Computer</a:t>
            </a:r>
            <a:r>
              <a:rPr sz="1600" b="1" spc="9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Vision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,</a:t>
            </a:r>
            <a:r>
              <a:rPr sz="1600" spc="7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ts val="1730"/>
              </a:lnSpc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600" b="1" spc="-7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Science</a:t>
            </a:r>
            <a:r>
              <a:rPr sz="1600" b="1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each</a:t>
            </a:r>
            <a:r>
              <a:rPr sz="16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have</a:t>
            </a:r>
            <a:r>
              <a:rPr sz="1600" spc="-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around</a:t>
            </a:r>
            <a:r>
              <a:rPr sz="16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30–40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courses.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ts val="154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Genres</a:t>
            </a:r>
            <a:r>
              <a:rPr sz="1600" spc="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like</a:t>
            </a:r>
            <a:r>
              <a:rPr sz="1600" spc="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Big</a:t>
            </a:r>
            <a:r>
              <a:rPr sz="1600" b="1" spc="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,</a:t>
            </a:r>
            <a:r>
              <a:rPr sz="1600" spc="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Chatbot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,</a:t>
            </a:r>
            <a:r>
              <a:rPr sz="1600" spc="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600" spc="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R</a:t>
            </a:r>
            <a:r>
              <a:rPr sz="1600" b="1" spc="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have</a:t>
            </a:r>
            <a:r>
              <a:rPr sz="1600" spc="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fewer</a:t>
            </a:r>
            <a:r>
              <a:rPr sz="1600" spc="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courses,</a:t>
            </a:r>
            <a:r>
              <a:rPr sz="1600" spc="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ranging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between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10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6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20.</a:t>
            </a:r>
            <a:endParaRPr sz="1600">
              <a:latin typeface="Calibri"/>
              <a:cs typeface="Calibri"/>
            </a:endParaRPr>
          </a:p>
          <a:p>
            <a:pPr marL="241300" marR="6350" indent="-228600" algn="just">
              <a:lnSpc>
                <a:spcPts val="154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  <a:tab pos="242570" algn="l"/>
              </a:tabLst>
            </a:pP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	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Blockchain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,</a:t>
            </a:r>
            <a:r>
              <a:rPr sz="1600" spc="18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Frontend</a:t>
            </a:r>
            <a:r>
              <a:rPr sz="1600" b="1" spc="19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Development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,</a:t>
            </a:r>
            <a:r>
              <a:rPr sz="1600" spc="18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600" spc="19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Backend</a:t>
            </a:r>
            <a:r>
              <a:rPr sz="1600" b="1" spc="18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Development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have</a:t>
            </a:r>
            <a:r>
              <a:rPr sz="1600" spc="155" dirty="0">
                <a:solidFill>
                  <a:srgbClr val="1C7CDB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160" dirty="0">
                <a:solidFill>
                  <a:srgbClr val="1C7CDB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fewest</a:t>
            </a:r>
            <a:r>
              <a:rPr sz="1600" spc="165" dirty="0">
                <a:solidFill>
                  <a:srgbClr val="1C7CDB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courses,</a:t>
            </a:r>
            <a:r>
              <a:rPr sz="1600" spc="160" dirty="0">
                <a:solidFill>
                  <a:srgbClr val="1C7CDB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suggesting</a:t>
            </a:r>
            <a:r>
              <a:rPr sz="1600" spc="155" dirty="0">
                <a:solidFill>
                  <a:srgbClr val="1C7CDB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less</a:t>
            </a:r>
            <a:r>
              <a:rPr sz="1600" spc="160" dirty="0">
                <a:solidFill>
                  <a:srgbClr val="1C7CDB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content</a:t>
            </a:r>
            <a:r>
              <a:rPr sz="1600" spc="160" dirty="0">
                <a:solidFill>
                  <a:srgbClr val="1C7CDB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or</a:t>
            </a:r>
            <a:r>
              <a:rPr sz="1600" spc="155" dirty="0">
                <a:solidFill>
                  <a:srgbClr val="1C7CDB"/>
                </a:solidFill>
                <a:latin typeface="Calibri"/>
                <a:cs typeface="Calibri"/>
              </a:rPr>
              <a:t> 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lower demand.</a:t>
            </a:r>
            <a:endParaRPr sz="1600">
              <a:latin typeface="Calibri"/>
              <a:cs typeface="Calibri"/>
            </a:endParaRPr>
          </a:p>
          <a:p>
            <a:pPr marL="12700" marR="5080" algn="just">
              <a:lnSpc>
                <a:spcPct val="80100"/>
              </a:lnSpc>
              <a:spcBef>
                <a:spcPts val="994"/>
              </a:spcBef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b="1" spc="4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distribution</a:t>
            </a:r>
            <a:r>
              <a:rPr sz="1600" b="1" spc="49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suggests</a:t>
            </a:r>
            <a:r>
              <a:rPr sz="1600" b="1" spc="4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600" b="1" spc="4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strong</a:t>
            </a:r>
            <a:r>
              <a:rPr sz="1600" b="1" spc="47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focus</a:t>
            </a:r>
            <a:r>
              <a:rPr sz="1600" b="1" spc="48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on</a:t>
            </a:r>
            <a:r>
              <a:rPr sz="1600" b="1" spc="484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1C7CDB"/>
                </a:solidFill>
                <a:latin typeface="Calibri"/>
                <a:cs typeface="Calibri"/>
              </a:rPr>
              <a:t>data-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related</a:t>
            </a:r>
            <a:r>
              <a:rPr sz="1600" b="1" spc="4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skills,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especially</a:t>
            </a:r>
            <a:r>
              <a:rPr sz="1600" b="1" spc="18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databases</a:t>
            </a:r>
            <a:r>
              <a:rPr sz="1600" b="1" spc="19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600" b="1" spc="18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Python,</a:t>
            </a:r>
            <a:r>
              <a:rPr sz="1600" b="1" spc="2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while</a:t>
            </a:r>
            <a:r>
              <a:rPr sz="1600" b="1" spc="19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newer</a:t>
            </a:r>
            <a:r>
              <a:rPr sz="1600" b="1" spc="18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or</a:t>
            </a:r>
            <a:r>
              <a:rPr sz="1600" b="1" spc="20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niche</a:t>
            </a:r>
            <a:r>
              <a:rPr sz="1600" b="1" spc="19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fields</a:t>
            </a:r>
            <a:r>
              <a:rPr sz="1600" b="1" spc="19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1C7CDB"/>
                </a:solidFill>
                <a:latin typeface="Calibri"/>
                <a:cs typeface="Calibri"/>
              </a:rPr>
              <a:t>like 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Blockchain</a:t>
            </a:r>
            <a:r>
              <a:rPr sz="16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have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less</a:t>
            </a:r>
            <a:r>
              <a:rPr sz="16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content.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3139" y="1513970"/>
            <a:ext cx="4744585" cy="46733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Course</a:t>
            </a:r>
            <a:r>
              <a:rPr spc="-110" dirty="0"/>
              <a:t> </a:t>
            </a:r>
            <a:r>
              <a:rPr spc="-35" dirty="0"/>
              <a:t>enrollment</a:t>
            </a:r>
            <a:r>
              <a:rPr spc="-17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6563359" y="1690636"/>
            <a:ext cx="4808220" cy="4113529"/>
          </a:xfrm>
          <a:custGeom>
            <a:avLst/>
            <a:gdLst/>
            <a:ahLst/>
            <a:cxnLst/>
            <a:rect l="l" t="t" r="r" b="b"/>
            <a:pathLst>
              <a:path w="4808220" h="4113529">
                <a:moveTo>
                  <a:pt x="0" y="4113403"/>
                </a:moveTo>
                <a:lnTo>
                  <a:pt x="4807965" y="4113403"/>
                </a:lnTo>
                <a:lnTo>
                  <a:pt x="4807965" y="0"/>
                </a:lnTo>
                <a:lnTo>
                  <a:pt x="0" y="0"/>
                </a:lnTo>
                <a:lnTo>
                  <a:pt x="0" y="4113403"/>
                </a:lnTo>
                <a:close/>
              </a:path>
            </a:pathLst>
          </a:custGeom>
          <a:ln w="9525">
            <a:solidFill>
              <a:srgbClr val="0A48C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655561" y="3537661"/>
            <a:ext cx="42710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984250" algn="l"/>
                <a:tab pos="2016125" algn="l"/>
                <a:tab pos="2411095" algn="l"/>
                <a:tab pos="2853055" algn="l"/>
              </a:tabLst>
            </a:pP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content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appears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to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be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	</a:t>
            </a:r>
            <a:r>
              <a:rPr sz="20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concentrated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5561" y="1708785"/>
            <a:ext cx="463867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000" spc="34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distribution</a:t>
            </a:r>
            <a:r>
              <a:rPr sz="2000" spc="35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is</a:t>
            </a:r>
            <a:r>
              <a:rPr sz="2000" spc="33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highly</a:t>
            </a:r>
            <a:r>
              <a:rPr sz="2000" spc="33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skewed</a:t>
            </a:r>
            <a:r>
              <a:rPr sz="2000" spc="35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to</a:t>
            </a:r>
            <a:r>
              <a:rPr sz="2000" spc="34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the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right</a:t>
            </a:r>
            <a:r>
              <a:rPr sz="2000" spc="7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(positive</a:t>
            </a:r>
            <a:r>
              <a:rPr sz="2000" spc="7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skew),</a:t>
            </a:r>
            <a:r>
              <a:rPr sz="2000" spc="7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with</a:t>
            </a:r>
            <a:r>
              <a:rPr sz="2000" spc="6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a</a:t>
            </a:r>
            <a:r>
              <a:rPr sz="2000" spc="7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few</a:t>
            </a:r>
            <a:r>
              <a:rPr sz="2000" spc="7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dominant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genres</a:t>
            </a:r>
            <a:r>
              <a:rPr sz="2000" spc="125" dirty="0">
                <a:solidFill>
                  <a:srgbClr val="1C7CDB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having</a:t>
            </a:r>
            <a:r>
              <a:rPr sz="2000" spc="120" dirty="0">
                <a:solidFill>
                  <a:srgbClr val="1C7CDB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very</a:t>
            </a:r>
            <a:r>
              <a:rPr sz="2000" spc="114" dirty="0">
                <a:solidFill>
                  <a:srgbClr val="1C7CDB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high</a:t>
            </a:r>
            <a:r>
              <a:rPr sz="2000" spc="120" dirty="0">
                <a:solidFill>
                  <a:srgbClr val="1C7CDB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counts</a:t>
            </a:r>
            <a:r>
              <a:rPr sz="2000" spc="125" dirty="0">
                <a:solidFill>
                  <a:srgbClr val="1C7CDB"/>
                </a:solidFill>
                <a:latin typeface="Microsoft Sans Serif"/>
                <a:cs typeface="Microsoft Sans Serif"/>
              </a:rPr>
              <a:t>  </a:t>
            </a:r>
            <a:r>
              <a:rPr sz="2000" spc="-50" dirty="0">
                <a:solidFill>
                  <a:srgbClr val="1C7CDB"/>
                </a:solidFill>
                <a:latin typeface="Microsoft Sans Serif"/>
                <a:cs typeface="Microsoft Sans Serif"/>
              </a:rPr>
              <a:t>(over </a:t>
            </a:r>
            <a:r>
              <a:rPr sz="2000" spc="50" dirty="0">
                <a:solidFill>
                  <a:srgbClr val="1C7CDB"/>
                </a:solidFill>
                <a:latin typeface="Microsoft Sans Serif"/>
                <a:cs typeface="Microsoft Sans Serif"/>
              </a:rPr>
              <a:t>8,000</a:t>
            </a:r>
            <a:r>
              <a:rPr sz="2000" spc="7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for</a:t>
            </a:r>
            <a:r>
              <a:rPr sz="2000" spc="7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000" spc="9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most</a:t>
            </a:r>
            <a:r>
              <a:rPr sz="2000" spc="7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frequent</a:t>
            </a:r>
            <a:r>
              <a:rPr sz="2000" spc="7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genre)</a:t>
            </a:r>
            <a:r>
              <a:rPr sz="2000" spc="6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and</a:t>
            </a:r>
            <a:r>
              <a:rPr sz="2000" spc="7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1C7CDB"/>
                </a:solidFill>
                <a:latin typeface="Microsoft Sans Serif"/>
                <a:cs typeface="Microsoft Sans Serif"/>
              </a:rPr>
              <a:t>a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long</a:t>
            </a:r>
            <a:r>
              <a:rPr sz="200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tail</a:t>
            </a:r>
            <a:r>
              <a:rPr sz="2000" spc="75" dirty="0">
                <a:solidFill>
                  <a:srgbClr val="1C7CDB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of</a:t>
            </a:r>
            <a:r>
              <a:rPr sz="2000" spc="75" dirty="0">
                <a:solidFill>
                  <a:srgbClr val="1C7CDB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less</a:t>
            </a:r>
            <a:r>
              <a:rPr sz="200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common</a:t>
            </a:r>
            <a:r>
              <a:rPr sz="200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genres</a:t>
            </a:r>
            <a:r>
              <a:rPr sz="200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  </a:t>
            </a:r>
            <a:r>
              <a:rPr sz="20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with </a:t>
            </a: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decreasing</a:t>
            </a:r>
            <a:r>
              <a:rPr sz="2000" spc="49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1C7CDB"/>
                </a:solidFill>
                <a:latin typeface="Microsoft Sans Serif"/>
                <a:cs typeface="Microsoft Sans Serif"/>
              </a:rPr>
              <a:t>frequencies.</a:t>
            </a:r>
            <a:r>
              <a:rPr sz="2000" spc="49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000" spc="-15" dirty="0">
                <a:solidFill>
                  <a:srgbClr val="1C7CDB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majority</a:t>
            </a:r>
            <a:r>
              <a:rPr sz="2000" spc="484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of</a:t>
            </a:r>
            <a:endParaRPr sz="2000">
              <a:latin typeface="Microsoft Sans Serif"/>
              <a:cs typeface="Microsoft Sans Serif"/>
            </a:endParaRPr>
          </a:p>
          <a:p>
            <a:pPr marR="8255" algn="r">
              <a:lnSpc>
                <a:spcPct val="100000"/>
              </a:lnSpc>
            </a:pP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in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5561" y="3843020"/>
            <a:ext cx="46386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genres</a:t>
            </a:r>
            <a:r>
              <a:rPr sz="2000" spc="33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numbered</a:t>
            </a:r>
            <a:r>
              <a:rPr sz="2000" spc="33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0-15,</a:t>
            </a:r>
            <a:r>
              <a:rPr sz="2000" spc="33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with</a:t>
            </a:r>
            <a:r>
              <a:rPr sz="2000" spc="34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1C7CDB"/>
                </a:solidFill>
                <a:latin typeface="Microsoft Sans Serif"/>
                <a:cs typeface="Microsoft Sans Serif"/>
              </a:rPr>
              <a:t>frequencies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dropping</a:t>
            </a:r>
            <a:r>
              <a:rPr sz="2000" spc="1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significantly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 after</a:t>
            </a:r>
            <a:r>
              <a:rPr sz="2000" spc="1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that</a:t>
            </a:r>
            <a:r>
              <a:rPr sz="2000" spc="3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point.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555" y="1443700"/>
            <a:ext cx="5896844" cy="45154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6400"/>
            <a:ext cx="5477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75" dirty="0"/>
              <a:t>20</a:t>
            </a:r>
            <a:r>
              <a:rPr spc="-75" dirty="0"/>
              <a:t> </a:t>
            </a:r>
            <a:r>
              <a:rPr dirty="0"/>
              <a:t>most</a:t>
            </a:r>
            <a:r>
              <a:rPr spc="-80" dirty="0"/>
              <a:t> </a:t>
            </a:r>
            <a:r>
              <a:rPr dirty="0"/>
              <a:t>popular</a:t>
            </a:r>
            <a:r>
              <a:rPr spc="-60" dirty="0"/>
              <a:t> </a:t>
            </a:r>
            <a:r>
              <a:rPr spc="-130" dirty="0"/>
              <a:t>courses</a:t>
            </a:r>
          </a:p>
        </p:txBody>
      </p:sp>
      <p:sp>
        <p:nvSpPr>
          <p:cNvPr id="3" name="object 3"/>
          <p:cNvSpPr/>
          <p:nvPr/>
        </p:nvSpPr>
        <p:spPr>
          <a:xfrm>
            <a:off x="855662" y="1473174"/>
            <a:ext cx="6744334" cy="4937760"/>
          </a:xfrm>
          <a:custGeom>
            <a:avLst/>
            <a:gdLst/>
            <a:ahLst/>
            <a:cxnLst/>
            <a:rect l="l" t="t" r="r" b="b"/>
            <a:pathLst>
              <a:path w="6744334" h="4937760">
                <a:moveTo>
                  <a:pt x="0" y="4937252"/>
                </a:moveTo>
                <a:lnTo>
                  <a:pt x="6743954" y="4937252"/>
                </a:lnTo>
                <a:lnTo>
                  <a:pt x="6743954" y="0"/>
                </a:lnTo>
                <a:lnTo>
                  <a:pt x="0" y="0"/>
                </a:lnTo>
                <a:lnTo>
                  <a:pt x="0" y="4937252"/>
                </a:lnTo>
                <a:close/>
              </a:path>
            </a:pathLst>
          </a:custGeom>
          <a:ln w="9525">
            <a:solidFill>
              <a:srgbClr val="0A48C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4618" y="1460449"/>
            <a:ext cx="6463030" cy="25266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5"/>
              </a:spcBef>
            </a:pPr>
            <a:r>
              <a:rPr sz="2000" spc="-11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1C7CDB"/>
                </a:solidFill>
                <a:latin typeface="Microsoft Sans Serif"/>
                <a:cs typeface="Microsoft Sans Serif"/>
              </a:rPr>
              <a:t>courses</a:t>
            </a:r>
            <a:r>
              <a:rPr sz="2000" spc="-7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primarily</a:t>
            </a:r>
            <a:r>
              <a:rPr sz="2000" spc="-9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1C7CDB"/>
                </a:solidFill>
                <a:latin typeface="Microsoft Sans Serif"/>
                <a:cs typeface="Microsoft Sans Serif"/>
              </a:rPr>
              <a:t>focus</a:t>
            </a:r>
            <a:r>
              <a:rPr sz="20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on</a:t>
            </a:r>
            <a:r>
              <a:rPr sz="20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data</a:t>
            </a:r>
            <a:r>
              <a:rPr sz="2000" spc="-6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1C7CDB"/>
                </a:solidFill>
                <a:latin typeface="Microsoft Sans Serif"/>
                <a:cs typeface="Microsoft Sans Serif"/>
              </a:rPr>
              <a:t>science,</a:t>
            </a:r>
            <a:r>
              <a:rPr sz="20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programming,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and</a:t>
            </a:r>
            <a:r>
              <a:rPr sz="2000" spc="-3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related</a:t>
            </a:r>
            <a:r>
              <a:rPr sz="2000" spc="-6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1C7CDB"/>
                </a:solidFill>
                <a:latin typeface="Microsoft Sans Serif"/>
                <a:cs typeface="Microsoft Sans Serif"/>
              </a:rPr>
              <a:t>technologies.</a:t>
            </a:r>
            <a:r>
              <a:rPr sz="2000" spc="-55" dirty="0">
                <a:solidFill>
                  <a:srgbClr val="1C7CDB"/>
                </a:solidFill>
                <a:latin typeface="Microsoft Sans Serif"/>
                <a:cs typeface="Microsoft Sans Serif"/>
              </a:rPr>
              <a:t> Python-</a:t>
            </a:r>
            <a:r>
              <a:rPr sz="2000" spc="-60" dirty="0">
                <a:solidFill>
                  <a:srgbClr val="1C7CDB"/>
                </a:solidFill>
                <a:latin typeface="Microsoft Sans Serif"/>
                <a:cs typeface="Microsoft Sans Serif"/>
              </a:rPr>
              <a:t>based</a:t>
            </a:r>
            <a:r>
              <a:rPr sz="2000" spc="-6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1C7CDB"/>
                </a:solidFill>
                <a:latin typeface="Microsoft Sans Serif"/>
                <a:cs typeface="Microsoft Sans Serif"/>
              </a:rPr>
              <a:t>courses</a:t>
            </a:r>
            <a:r>
              <a:rPr sz="20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dominate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top </a:t>
            </a:r>
            <a:r>
              <a:rPr sz="20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spots,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 with</a:t>
            </a:r>
            <a:r>
              <a:rPr sz="2000" spc="-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"Python</a:t>
            </a:r>
            <a:r>
              <a:rPr sz="2000" spc="-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for</a:t>
            </a:r>
            <a:r>
              <a:rPr sz="20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1C7CDB"/>
                </a:solidFill>
                <a:latin typeface="Microsoft Sans Serif"/>
                <a:cs typeface="Microsoft Sans Serif"/>
              </a:rPr>
              <a:t>Data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1C7CDB"/>
                </a:solidFill>
                <a:latin typeface="Microsoft Sans Serif"/>
                <a:cs typeface="Microsoft Sans Serif"/>
              </a:rPr>
              <a:t>Science"</a:t>
            </a:r>
            <a:r>
              <a:rPr sz="2000" spc="-4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having</a:t>
            </a:r>
            <a:r>
              <a:rPr sz="2000" spc="-1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the </a:t>
            </a:r>
            <a:r>
              <a:rPr sz="20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highest</a:t>
            </a: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enrollment</a:t>
            </a:r>
            <a:r>
              <a:rPr sz="2000" spc="-3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at </a:t>
            </a:r>
            <a:r>
              <a:rPr sz="2000" spc="60" dirty="0">
                <a:solidFill>
                  <a:srgbClr val="1C7CDB"/>
                </a:solidFill>
                <a:latin typeface="Microsoft Sans Serif"/>
                <a:cs typeface="Microsoft Sans Serif"/>
              </a:rPr>
              <a:t>14,936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students.</a:t>
            </a:r>
            <a:r>
              <a:rPr sz="2000" spc="-1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0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 list </a:t>
            </a:r>
            <a:r>
              <a:rPr sz="20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demonstrates</a:t>
            </a:r>
            <a:r>
              <a:rPr sz="2000" spc="-5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a</a:t>
            </a:r>
            <a:r>
              <a:rPr sz="2000" spc="-4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strong</a:t>
            </a:r>
            <a:r>
              <a:rPr sz="20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interest</a:t>
            </a:r>
            <a:r>
              <a:rPr sz="2000" spc="-5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in</a:t>
            </a:r>
            <a:r>
              <a:rPr sz="20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data</a:t>
            </a:r>
            <a:r>
              <a:rPr sz="2000" spc="-5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science </a:t>
            </a:r>
            <a:r>
              <a:rPr sz="2000" spc="-55" dirty="0">
                <a:solidFill>
                  <a:srgbClr val="1C7CDB"/>
                </a:solidFill>
                <a:latin typeface="Microsoft Sans Serif"/>
                <a:cs typeface="Microsoft Sans Serif"/>
              </a:rPr>
              <a:t>fundamentals,</a:t>
            </a:r>
            <a:r>
              <a:rPr sz="2000" spc="-5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big</a:t>
            </a:r>
            <a:r>
              <a:rPr sz="20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data</a:t>
            </a:r>
            <a:r>
              <a:rPr sz="20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1C7CDB"/>
                </a:solidFill>
                <a:latin typeface="Microsoft Sans Serif"/>
                <a:cs typeface="Microsoft Sans Serif"/>
              </a:rPr>
              <a:t>technologies,</a:t>
            </a:r>
            <a:r>
              <a:rPr sz="20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and</a:t>
            </a:r>
            <a:r>
              <a:rPr sz="2000" spc="-3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1C7CDB"/>
                </a:solidFill>
                <a:latin typeface="Microsoft Sans Serif"/>
                <a:cs typeface="Microsoft Sans Serif"/>
              </a:rPr>
              <a:t>machine</a:t>
            </a:r>
            <a:r>
              <a:rPr sz="20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learning,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with</a:t>
            </a:r>
            <a:r>
              <a:rPr sz="2000" spc="-1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enrollments</a:t>
            </a:r>
            <a:r>
              <a:rPr sz="2000" spc="-4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gradually</a:t>
            </a:r>
            <a:r>
              <a:rPr sz="20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1C7CDB"/>
                </a:solidFill>
                <a:latin typeface="Microsoft Sans Serif"/>
                <a:cs typeface="Microsoft Sans Serif"/>
              </a:rPr>
              <a:t>decreasing</a:t>
            </a:r>
            <a:r>
              <a:rPr sz="2000" spc="-4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from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around</a:t>
            </a: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1C7CDB"/>
                </a:solidFill>
                <a:latin typeface="Microsoft Sans Serif"/>
                <a:cs typeface="Microsoft Sans Serif"/>
              </a:rPr>
              <a:t>15,000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for</a:t>
            </a:r>
            <a:r>
              <a:rPr sz="2000" spc="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most</a:t>
            </a:r>
            <a:r>
              <a:rPr sz="2000" spc="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popular</a:t>
            </a:r>
            <a:r>
              <a:rPr sz="2000" spc="-1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1C7CDB"/>
                </a:solidFill>
                <a:latin typeface="Microsoft Sans Serif"/>
                <a:cs typeface="Microsoft Sans Serif"/>
              </a:rPr>
              <a:t>course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to</a:t>
            </a:r>
            <a:r>
              <a:rPr sz="2000" spc="1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about</a:t>
            </a:r>
            <a:r>
              <a:rPr sz="2000" spc="1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55" dirty="0">
                <a:solidFill>
                  <a:srgbClr val="1C7CDB"/>
                </a:solidFill>
                <a:latin typeface="Microsoft Sans Serif"/>
                <a:cs typeface="Microsoft Sans Serif"/>
              </a:rPr>
              <a:t>3,600</a:t>
            </a:r>
            <a:r>
              <a:rPr sz="2000" spc="1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for</a:t>
            </a:r>
            <a:r>
              <a:rPr sz="2000" spc="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30" dirty="0">
                <a:solidFill>
                  <a:srgbClr val="1C7CDB"/>
                </a:solidFill>
                <a:latin typeface="Microsoft Sans Serif"/>
                <a:cs typeface="Microsoft Sans Serif"/>
              </a:rPr>
              <a:t>20th </a:t>
            </a:r>
            <a:r>
              <a:rPr sz="20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ranked</a:t>
            </a:r>
            <a:r>
              <a:rPr sz="2000" spc="-10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course.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0240" y="875434"/>
            <a:ext cx="3174004" cy="55849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Word</a:t>
            </a:r>
            <a:r>
              <a:rPr spc="-95" dirty="0"/>
              <a:t> </a:t>
            </a:r>
            <a:r>
              <a:rPr dirty="0"/>
              <a:t>cloud</a:t>
            </a:r>
            <a:r>
              <a:rPr spc="-85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5" dirty="0"/>
              <a:t>course</a:t>
            </a:r>
            <a:r>
              <a:rPr spc="-95" dirty="0"/>
              <a:t> </a:t>
            </a:r>
            <a:r>
              <a:rPr spc="-10" dirty="0"/>
              <a:t>titles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8959" y="5078857"/>
            <a:ext cx="11297920" cy="1637030"/>
          </a:xfrm>
          <a:prstGeom prst="rect">
            <a:avLst/>
          </a:prstGeom>
          <a:ln w="9525">
            <a:solidFill>
              <a:srgbClr val="0A48C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0040" indent="-228600">
              <a:lnSpc>
                <a:spcPts val="1645"/>
              </a:lnSpc>
              <a:buFont typeface="Arial"/>
              <a:buChar char="•"/>
              <a:tabLst>
                <a:tab pos="32004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largest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terms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</a:t>
            </a:r>
            <a:r>
              <a:rPr sz="1600" b="1" dirty="0">
                <a:latin typeface="Calibri"/>
                <a:cs typeface="Calibri"/>
              </a:rPr>
              <a:t>python</a:t>
            </a:r>
            <a:r>
              <a:rPr sz="1600" dirty="0">
                <a:latin typeface="Calibri"/>
                <a:cs typeface="Calibri"/>
              </a:rPr>
              <a:t>",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</a:t>
            </a:r>
            <a:r>
              <a:rPr sz="1600" b="1" dirty="0">
                <a:latin typeface="Calibri"/>
                <a:cs typeface="Calibri"/>
              </a:rPr>
              <a:t>data</a:t>
            </a:r>
            <a:r>
              <a:rPr sz="1600" dirty="0">
                <a:latin typeface="Calibri"/>
                <a:cs typeface="Calibri"/>
              </a:rPr>
              <a:t>",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</a:t>
            </a:r>
            <a:r>
              <a:rPr sz="1600" b="1" dirty="0">
                <a:latin typeface="Calibri"/>
                <a:cs typeface="Calibri"/>
              </a:rPr>
              <a:t>machine</a:t>
            </a:r>
            <a:r>
              <a:rPr sz="1600" b="1" spc="19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learning</a:t>
            </a:r>
            <a:r>
              <a:rPr sz="1600" dirty="0">
                <a:latin typeface="Calibri"/>
                <a:cs typeface="Calibri"/>
              </a:rPr>
              <a:t>",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</a:t>
            </a:r>
            <a:r>
              <a:rPr sz="1600" b="1" dirty="0">
                <a:latin typeface="Calibri"/>
                <a:cs typeface="Calibri"/>
              </a:rPr>
              <a:t>analysis</a:t>
            </a:r>
            <a:r>
              <a:rPr sz="1600" dirty="0">
                <a:latin typeface="Calibri"/>
                <a:cs typeface="Calibri"/>
              </a:rPr>
              <a:t>",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indicating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these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most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frequently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occurring</a:t>
            </a:r>
            <a:endParaRPr sz="1600">
              <a:latin typeface="Calibri"/>
              <a:cs typeface="Calibri"/>
            </a:endParaRPr>
          </a:p>
          <a:p>
            <a:pPr marL="320040">
              <a:lnSpc>
                <a:spcPts val="1730"/>
              </a:lnSpc>
            </a:pPr>
            <a:r>
              <a:rPr sz="1600" dirty="0">
                <a:latin typeface="Calibri"/>
                <a:cs typeface="Calibri"/>
              </a:rPr>
              <a:t>terms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course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titles</a:t>
            </a:r>
            <a:endParaRPr sz="1600">
              <a:latin typeface="Calibri"/>
              <a:cs typeface="Calibri"/>
            </a:endParaRPr>
          </a:p>
          <a:p>
            <a:pPr marL="320040" marR="81915" indent="-228600">
              <a:lnSpc>
                <a:spcPts val="1540"/>
              </a:lnSpc>
              <a:spcBef>
                <a:spcPts val="980"/>
              </a:spcBef>
              <a:buFont typeface="Arial"/>
              <a:buChar char="•"/>
              <a:tabLst>
                <a:tab pos="320040" algn="l"/>
              </a:tabLst>
            </a:pPr>
            <a:r>
              <a:rPr sz="1600" spc="-10" dirty="0">
                <a:latin typeface="Calibri"/>
                <a:cs typeface="Calibri"/>
              </a:rPr>
              <a:t>Second-</a:t>
            </a:r>
            <a:r>
              <a:rPr sz="1600" dirty="0">
                <a:latin typeface="Calibri"/>
                <a:cs typeface="Calibri"/>
              </a:rPr>
              <a:t>tier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prominent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terms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</a:t>
            </a:r>
            <a:r>
              <a:rPr sz="1600" b="1" dirty="0">
                <a:latin typeface="Calibri"/>
                <a:cs typeface="Calibri"/>
              </a:rPr>
              <a:t>service</a:t>
            </a:r>
            <a:r>
              <a:rPr sz="1600" dirty="0">
                <a:latin typeface="Calibri"/>
                <a:cs typeface="Calibri"/>
              </a:rPr>
              <a:t>",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</a:t>
            </a:r>
            <a:r>
              <a:rPr sz="1600" b="1" dirty="0">
                <a:latin typeface="Calibri"/>
                <a:cs typeface="Calibri"/>
              </a:rPr>
              <a:t>science</a:t>
            </a:r>
            <a:r>
              <a:rPr sz="1600" dirty="0">
                <a:latin typeface="Calibri"/>
                <a:cs typeface="Calibri"/>
              </a:rPr>
              <a:t>",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</a:t>
            </a:r>
            <a:r>
              <a:rPr sz="1600" b="1" dirty="0">
                <a:latin typeface="Calibri"/>
                <a:cs typeface="Calibri"/>
              </a:rPr>
              <a:t>java</a:t>
            </a:r>
            <a:r>
              <a:rPr sz="1600" dirty="0">
                <a:latin typeface="Calibri"/>
                <a:cs typeface="Calibri"/>
              </a:rPr>
              <a:t>",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</a:t>
            </a:r>
            <a:r>
              <a:rPr sz="1600" b="1" dirty="0">
                <a:latin typeface="Calibri"/>
                <a:cs typeface="Calibri"/>
              </a:rPr>
              <a:t>microservice</a:t>
            </a:r>
            <a:r>
              <a:rPr sz="1600" dirty="0">
                <a:latin typeface="Calibri"/>
                <a:cs typeface="Calibri"/>
              </a:rPr>
              <a:t>",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showing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important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technical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programming concepts</a:t>
            </a:r>
            <a:endParaRPr sz="1600">
              <a:latin typeface="Calibri"/>
              <a:cs typeface="Calibri"/>
            </a:endParaRPr>
          </a:p>
          <a:p>
            <a:pPr marL="320040" marR="82550" indent="-228600">
              <a:lnSpc>
                <a:spcPct val="80000"/>
              </a:lnSpc>
              <a:spcBef>
                <a:spcPts val="1015"/>
              </a:spcBef>
              <a:buFont typeface="Arial"/>
              <a:buChar char="•"/>
              <a:tabLst>
                <a:tab pos="320040" algn="l"/>
              </a:tabLst>
            </a:pPr>
            <a:r>
              <a:rPr sz="1600" dirty="0">
                <a:latin typeface="Calibri"/>
                <a:cs typeface="Calibri"/>
              </a:rPr>
              <a:t>Supporting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terms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</a:t>
            </a:r>
            <a:r>
              <a:rPr sz="1600" b="1" spc="-10" dirty="0">
                <a:latin typeface="Calibri"/>
                <a:cs typeface="Calibri"/>
              </a:rPr>
              <a:t>fundamentals</a:t>
            </a:r>
            <a:r>
              <a:rPr sz="1600" spc="-10" dirty="0">
                <a:latin typeface="Calibri"/>
                <a:cs typeface="Calibri"/>
              </a:rPr>
              <a:t>",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</a:t>
            </a:r>
            <a:r>
              <a:rPr sz="1600" b="1" dirty="0">
                <a:latin typeface="Calibri"/>
                <a:cs typeface="Calibri"/>
              </a:rPr>
              <a:t>cloud</a:t>
            </a:r>
            <a:r>
              <a:rPr sz="1600" dirty="0">
                <a:latin typeface="Calibri"/>
                <a:cs typeface="Calibri"/>
              </a:rPr>
              <a:t>",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</a:t>
            </a:r>
            <a:r>
              <a:rPr sz="1600" b="1" dirty="0">
                <a:latin typeface="Calibri"/>
                <a:cs typeface="Calibri"/>
              </a:rPr>
              <a:t>big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data</a:t>
            </a:r>
            <a:r>
              <a:rPr sz="1600" dirty="0">
                <a:latin typeface="Calibri"/>
                <a:cs typeface="Calibri"/>
              </a:rPr>
              <a:t>",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</a:t>
            </a:r>
            <a:r>
              <a:rPr sz="1600" b="1" spc="-10" dirty="0">
                <a:latin typeface="Calibri"/>
                <a:cs typeface="Calibri"/>
              </a:rPr>
              <a:t>kubernetes</a:t>
            </a:r>
            <a:r>
              <a:rPr sz="1600" spc="-10" dirty="0">
                <a:latin typeface="Calibri"/>
                <a:cs typeface="Calibri"/>
              </a:rPr>
              <a:t>",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</a:t>
            </a:r>
            <a:r>
              <a:rPr sz="1600" b="1" dirty="0">
                <a:latin typeface="Calibri"/>
                <a:cs typeface="Calibri"/>
              </a:rPr>
              <a:t>spark</a:t>
            </a:r>
            <a:r>
              <a:rPr sz="1600" dirty="0">
                <a:latin typeface="Calibri"/>
                <a:cs typeface="Calibri"/>
              </a:rPr>
              <a:t>"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reflect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broader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ecosystem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science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cloud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technologies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017" y="1159383"/>
            <a:ext cx="7585836" cy="38088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>
              <a:lnSpc>
                <a:spcPct val="89900"/>
              </a:lnSpc>
              <a:spcBef>
                <a:spcPts val="830"/>
              </a:spcBef>
            </a:pPr>
            <a:r>
              <a:rPr sz="6000" spc="-145" dirty="0">
                <a:solidFill>
                  <a:srgbClr val="292929"/>
                </a:solidFill>
              </a:rPr>
              <a:t>Content-based</a:t>
            </a:r>
            <a:r>
              <a:rPr sz="6000" spc="-150" dirty="0">
                <a:solidFill>
                  <a:srgbClr val="292929"/>
                </a:solidFill>
              </a:rPr>
              <a:t> </a:t>
            </a:r>
            <a:r>
              <a:rPr sz="6000" spc="-290" dirty="0">
                <a:solidFill>
                  <a:srgbClr val="292929"/>
                </a:solidFill>
              </a:rPr>
              <a:t>Recommender </a:t>
            </a:r>
            <a:r>
              <a:rPr sz="6000" spc="-335" dirty="0">
                <a:solidFill>
                  <a:srgbClr val="292929"/>
                </a:solidFill>
              </a:rPr>
              <a:t>System</a:t>
            </a:r>
            <a:r>
              <a:rPr sz="6000" spc="-65" dirty="0">
                <a:solidFill>
                  <a:srgbClr val="292929"/>
                </a:solidFill>
              </a:rPr>
              <a:t> </a:t>
            </a:r>
            <a:r>
              <a:rPr sz="6000" spc="-10" dirty="0">
                <a:solidFill>
                  <a:srgbClr val="292929"/>
                </a:solidFill>
              </a:rPr>
              <a:t>using</a:t>
            </a:r>
            <a:r>
              <a:rPr sz="6000" spc="-90" dirty="0">
                <a:solidFill>
                  <a:srgbClr val="292929"/>
                </a:solidFill>
              </a:rPr>
              <a:t> </a:t>
            </a:r>
            <a:r>
              <a:rPr sz="6000" spc="-105" dirty="0">
                <a:solidFill>
                  <a:srgbClr val="292929"/>
                </a:solidFill>
              </a:rPr>
              <a:t>Unsupervised </a:t>
            </a:r>
            <a:r>
              <a:rPr sz="6000" spc="-30" dirty="0">
                <a:solidFill>
                  <a:srgbClr val="292929"/>
                </a:solidFill>
              </a:rPr>
              <a:t>Learning</a:t>
            </a:r>
            <a:endParaRPr sz="6000"/>
          </a:p>
        </p:txBody>
      </p:sp>
      <p:grpSp>
        <p:nvGrpSpPr>
          <p:cNvPr id="3" name="object 3"/>
          <p:cNvGrpSpPr/>
          <p:nvPr/>
        </p:nvGrpSpPr>
        <p:grpSpPr>
          <a:xfrm>
            <a:off x="10157586" y="4914010"/>
            <a:ext cx="1556385" cy="1294765"/>
            <a:chOff x="10157586" y="4914010"/>
            <a:chExt cx="1556385" cy="1294765"/>
          </a:xfrm>
        </p:grpSpPr>
        <p:sp>
          <p:nvSpPr>
            <p:cNvPr id="4" name="object 4"/>
            <p:cNvSpPr/>
            <p:nvPr/>
          </p:nvSpPr>
          <p:spPr>
            <a:xfrm>
              <a:off x="10170286" y="5383275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406095"/>
                  </a:moveTo>
                  <a:lnTo>
                    <a:pt x="2731" y="358721"/>
                  </a:lnTo>
                  <a:lnTo>
                    <a:pt x="10721" y="312956"/>
                  </a:lnTo>
                  <a:lnTo>
                    <a:pt x="23666" y="269105"/>
                  </a:lnTo>
                  <a:lnTo>
                    <a:pt x="41263" y="227470"/>
                  </a:lnTo>
                  <a:lnTo>
                    <a:pt x="63207" y="188357"/>
                  </a:lnTo>
                  <a:lnTo>
                    <a:pt x="89193" y="152070"/>
                  </a:lnTo>
                  <a:lnTo>
                    <a:pt x="118919" y="118913"/>
                  </a:lnTo>
                  <a:lnTo>
                    <a:pt x="152080" y="89189"/>
                  </a:lnTo>
                  <a:lnTo>
                    <a:pt x="188371" y="63204"/>
                  </a:lnTo>
                  <a:lnTo>
                    <a:pt x="227489" y="41262"/>
                  </a:lnTo>
                  <a:lnTo>
                    <a:pt x="269129" y="23666"/>
                  </a:lnTo>
                  <a:lnTo>
                    <a:pt x="312988" y="10721"/>
                  </a:lnTo>
                  <a:lnTo>
                    <a:pt x="358762" y="2730"/>
                  </a:lnTo>
                  <a:lnTo>
                    <a:pt x="406146" y="0"/>
                  </a:lnTo>
                  <a:lnTo>
                    <a:pt x="453506" y="2730"/>
                  </a:lnTo>
                  <a:lnTo>
                    <a:pt x="499263" y="10721"/>
                  </a:lnTo>
                  <a:lnTo>
                    <a:pt x="543111" y="23666"/>
                  </a:lnTo>
                  <a:lnTo>
                    <a:pt x="584747" y="41262"/>
                  </a:lnTo>
                  <a:lnTo>
                    <a:pt x="623864" y="63204"/>
                  </a:lnTo>
                  <a:lnTo>
                    <a:pt x="660158" y="89189"/>
                  </a:lnTo>
                  <a:lnTo>
                    <a:pt x="693324" y="118913"/>
                  </a:lnTo>
                  <a:lnTo>
                    <a:pt x="723058" y="152070"/>
                  </a:lnTo>
                  <a:lnTo>
                    <a:pt x="749053" y="188357"/>
                  </a:lnTo>
                  <a:lnTo>
                    <a:pt x="771006" y="227470"/>
                  </a:lnTo>
                  <a:lnTo>
                    <a:pt x="788611" y="269105"/>
                  </a:lnTo>
                  <a:lnTo>
                    <a:pt x="801564" y="312956"/>
                  </a:lnTo>
                  <a:lnTo>
                    <a:pt x="809559" y="358721"/>
                  </a:lnTo>
                  <a:lnTo>
                    <a:pt x="812292" y="406095"/>
                  </a:lnTo>
                  <a:lnTo>
                    <a:pt x="809559" y="453462"/>
                  </a:lnTo>
                  <a:lnTo>
                    <a:pt x="801564" y="499225"/>
                  </a:lnTo>
                  <a:lnTo>
                    <a:pt x="788611" y="543077"/>
                  </a:lnTo>
                  <a:lnTo>
                    <a:pt x="771006" y="584715"/>
                  </a:lnTo>
                  <a:lnTo>
                    <a:pt x="749053" y="623834"/>
                  </a:lnTo>
                  <a:lnTo>
                    <a:pt x="723058" y="660128"/>
                  </a:lnTo>
                  <a:lnTo>
                    <a:pt x="693324" y="693294"/>
                  </a:lnTo>
                  <a:lnTo>
                    <a:pt x="660158" y="723026"/>
                  </a:lnTo>
                  <a:lnTo>
                    <a:pt x="623864" y="749021"/>
                  </a:lnTo>
                  <a:lnTo>
                    <a:pt x="584747" y="770972"/>
                  </a:lnTo>
                  <a:lnTo>
                    <a:pt x="543111" y="788575"/>
                  </a:lnTo>
                  <a:lnTo>
                    <a:pt x="499263" y="801527"/>
                  </a:lnTo>
                  <a:lnTo>
                    <a:pt x="453506" y="809521"/>
                  </a:lnTo>
                  <a:lnTo>
                    <a:pt x="406146" y="812253"/>
                  </a:lnTo>
                  <a:lnTo>
                    <a:pt x="358762" y="809521"/>
                  </a:lnTo>
                  <a:lnTo>
                    <a:pt x="312988" y="801527"/>
                  </a:lnTo>
                  <a:lnTo>
                    <a:pt x="269129" y="788575"/>
                  </a:lnTo>
                  <a:lnTo>
                    <a:pt x="227489" y="770972"/>
                  </a:lnTo>
                  <a:lnTo>
                    <a:pt x="188371" y="749021"/>
                  </a:lnTo>
                  <a:lnTo>
                    <a:pt x="152080" y="723026"/>
                  </a:lnTo>
                  <a:lnTo>
                    <a:pt x="118919" y="693294"/>
                  </a:lnTo>
                  <a:lnTo>
                    <a:pt x="89193" y="660128"/>
                  </a:lnTo>
                  <a:lnTo>
                    <a:pt x="63207" y="623834"/>
                  </a:lnTo>
                  <a:lnTo>
                    <a:pt x="41263" y="584715"/>
                  </a:lnTo>
                  <a:lnTo>
                    <a:pt x="23666" y="543077"/>
                  </a:lnTo>
                  <a:lnTo>
                    <a:pt x="10721" y="499225"/>
                  </a:lnTo>
                  <a:lnTo>
                    <a:pt x="2731" y="453462"/>
                  </a:lnTo>
                  <a:lnTo>
                    <a:pt x="0" y="40609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518393" y="5749493"/>
              <a:ext cx="192405" cy="176530"/>
            </a:xfrm>
            <a:custGeom>
              <a:avLst/>
              <a:gdLst/>
              <a:ahLst/>
              <a:cxnLst/>
              <a:rect l="l" t="t" r="r" b="b"/>
              <a:pathLst>
                <a:path w="192404" h="176529">
                  <a:moveTo>
                    <a:pt x="0" y="39877"/>
                  </a:moveTo>
                  <a:lnTo>
                    <a:pt x="3141" y="24356"/>
                  </a:lnTo>
                  <a:lnTo>
                    <a:pt x="11699" y="11680"/>
                  </a:lnTo>
                  <a:lnTo>
                    <a:pt x="24378" y="3134"/>
                  </a:lnTo>
                  <a:lnTo>
                    <a:pt x="39877" y="0"/>
                  </a:lnTo>
                  <a:lnTo>
                    <a:pt x="55431" y="3134"/>
                  </a:lnTo>
                  <a:lnTo>
                    <a:pt x="68103" y="11680"/>
                  </a:lnTo>
                  <a:lnTo>
                    <a:pt x="76632" y="24356"/>
                  </a:lnTo>
                  <a:lnTo>
                    <a:pt x="79755" y="39877"/>
                  </a:lnTo>
                  <a:lnTo>
                    <a:pt x="76632" y="55399"/>
                  </a:lnTo>
                  <a:lnTo>
                    <a:pt x="68103" y="68075"/>
                  </a:lnTo>
                  <a:lnTo>
                    <a:pt x="55431" y="76621"/>
                  </a:lnTo>
                  <a:lnTo>
                    <a:pt x="39877" y="79755"/>
                  </a:lnTo>
                  <a:lnTo>
                    <a:pt x="24378" y="76621"/>
                  </a:lnTo>
                  <a:lnTo>
                    <a:pt x="11699" y="68075"/>
                  </a:lnTo>
                  <a:lnTo>
                    <a:pt x="3141" y="55399"/>
                  </a:lnTo>
                  <a:lnTo>
                    <a:pt x="0" y="39877"/>
                  </a:lnTo>
                  <a:close/>
                </a:path>
                <a:path w="192404" h="176529">
                  <a:moveTo>
                    <a:pt x="112395" y="136334"/>
                  </a:moveTo>
                  <a:lnTo>
                    <a:pt x="115518" y="120813"/>
                  </a:lnTo>
                  <a:lnTo>
                    <a:pt x="124047" y="108137"/>
                  </a:lnTo>
                  <a:lnTo>
                    <a:pt x="136719" y="99590"/>
                  </a:lnTo>
                  <a:lnTo>
                    <a:pt x="152273" y="96456"/>
                  </a:lnTo>
                  <a:lnTo>
                    <a:pt x="167772" y="99590"/>
                  </a:lnTo>
                  <a:lnTo>
                    <a:pt x="180451" y="108137"/>
                  </a:lnTo>
                  <a:lnTo>
                    <a:pt x="189009" y="120813"/>
                  </a:lnTo>
                  <a:lnTo>
                    <a:pt x="192150" y="136334"/>
                  </a:lnTo>
                  <a:lnTo>
                    <a:pt x="189009" y="151855"/>
                  </a:lnTo>
                  <a:lnTo>
                    <a:pt x="180451" y="164531"/>
                  </a:lnTo>
                  <a:lnTo>
                    <a:pt x="167772" y="173078"/>
                  </a:lnTo>
                  <a:lnTo>
                    <a:pt x="152273" y="176212"/>
                  </a:lnTo>
                  <a:lnTo>
                    <a:pt x="136719" y="173078"/>
                  </a:lnTo>
                  <a:lnTo>
                    <a:pt x="124047" y="164531"/>
                  </a:lnTo>
                  <a:lnTo>
                    <a:pt x="115518" y="151855"/>
                  </a:lnTo>
                  <a:lnTo>
                    <a:pt x="112395" y="136334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47388" y="5830150"/>
              <a:ext cx="101980" cy="1019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442" y="5510720"/>
              <a:ext cx="101980" cy="1020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644631" y="5988215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39877"/>
                  </a:moveTo>
                  <a:lnTo>
                    <a:pt x="3123" y="24351"/>
                  </a:lnTo>
                  <a:lnTo>
                    <a:pt x="11652" y="11676"/>
                  </a:lnTo>
                  <a:lnTo>
                    <a:pt x="24324" y="3132"/>
                  </a:lnTo>
                  <a:lnTo>
                    <a:pt x="39877" y="0"/>
                  </a:lnTo>
                  <a:lnTo>
                    <a:pt x="55377" y="3132"/>
                  </a:lnTo>
                  <a:lnTo>
                    <a:pt x="68056" y="11676"/>
                  </a:lnTo>
                  <a:lnTo>
                    <a:pt x="76614" y="24351"/>
                  </a:lnTo>
                  <a:lnTo>
                    <a:pt x="79756" y="39877"/>
                  </a:lnTo>
                  <a:lnTo>
                    <a:pt x="76614" y="55397"/>
                  </a:lnTo>
                  <a:lnTo>
                    <a:pt x="68056" y="68068"/>
                  </a:lnTo>
                  <a:lnTo>
                    <a:pt x="55377" y="76611"/>
                  </a:lnTo>
                  <a:lnTo>
                    <a:pt x="39877" y="79743"/>
                  </a:lnTo>
                  <a:lnTo>
                    <a:pt x="24324" y="76611"/>
                  </a:lnTo>
                  <a:lnTo>
                    <a:pt x="11652" y="68068"/>
                  </a:lnTo>
                  <a:lnTo>
                    <a:pt x="3123" y="55397"/>
                  </a:lnTo>
                  <a:lnTo>
                    <a:pt x="0" y="39877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37862" y="5775591"/>
              <a:ext cx="101980" cy="10198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620882" y="5684227"/>
              <a:ext cx="220979" cy="312420"/>
            </a:xfrm>
            <a:custGeom>
              <a:avLst/>
              <a:gdLst/>
              <a:ahLst/>
              <a:cxnLst/>
              <a:rect l="l" t="t" r="r" b="b"/>
              <a:pathLst>
                <a:path w="220979" h="312420">
                  <a:moveTo>
                    <a:pt x="140716" y="272351"/>
                  </a:moveTo>
                  <a:lnTo>
                    <a:pt x="143857" y="256830"/>
                  </a:lnTo>
                  <a:lnTo>
                    <a:pt x="152415" y="244154"/>
                  </a:lnTo>
                  <a:lnTo>
                    <a:pt x="165094" y="235607"/>
                  </a:lnTo>
                  <a:lnTo>
                    <a:pt x="180594" y="232473"/>
                  </a:lnTo>
                  <a:lnTo>
                    <a:pt x="196147" y="235607"/>
                  </a:lnTo>
                  <a:lnTo>
                    <a:pt x="208819" y="244154"/>
                  </a:lnTo>
                  <a:lnTo>
                    <a:pt x="217348" y="256830"/>
                  </a:lnTo>
                  <a:lnTo>
                    <a:pt x="220472" y="272351"/>
                  </a:lnTo>
                  <a:lnTo>
                    <a:pt x="217348" y="287872"/>
                  </a:lnTo>
                  <a:lnTo>
                    <a:pt x="208819" y="300548"/>
                  </a:lnTo>
                  <a:lnTo>
                    <a:pt x="196147" y="309095"/>
                  </a:lnTo>
                  <a:lnTo>
                    <a:pt x="180594" y="312229"/>
                  </a:lnTo>
                  <a:lnTo>
                    <a:pt x="165094" y="309095"/>
                  </a:lnTo>
                  <a:lnTo>
                    <a:pt x="152415" y="300548"/>
                  </a:lnTo>
                  <a:lnTo>
                    <a:pt x="143857" y="287872"/>
                  </a:lnTo>
                  <a:lnTo>
                    <a:pt x="140716" y="272351"/>
                  </a:lnTo>
                  <a:close/>
                </a:path>
                <a:path w="220979" h="312420">
                  <a:moveTo>
                    <a:pt x="0" y="39878"/>
                  </a:moveTo>
                  <a:lnTo>
                    <a:pt x="3141" y="24356"/>
                  </a:lnTo>
                  <a:lnTo>
                    <a:pt x="11699" y="11680"/>
                  </a:lnTo>
                  <a:lnTo>
                    <a:pt x="24378" y="3134"/>
                  </a:lnTo>
                  <a:lnTo>
                    <a:pt x="39877" y="0"/>
                  </a:lnTo>
                  <a:lnTo>
                    <a:pt x="55377" y="3134"/>
                  </a:lnTo>
                  <a:lnTo>
                    <a:pt x="68056" y="11680"/>
                  </a:lnTo>
                  <a:lnTo>
                    <a:pt x="76614" y="24356"/>
                  </a:lnTo>
                  <a:lnTo>
                    <a:pt x="79756" y="39878"/>
                  </a:lnTo>
                  <a:lnTo>
                    <a:pt x="76614" y="55399"/>
                  </a:lnTo>
                  <a:lnTo>
                    <a:pt x="68056" y="68075"/>
                  </a:lnTo>
                  <a:lnTo>
                    <a:pt x="55377" y="76621"/>
                  </a:lnTo>
                  <a:lnTo>
                    <a:pt x="39877" y="79756"/>
                  </a:lnTo>
                  <a:lnTo>
                    <a:pt x="24378" y="76621"/>
                  </a:lnTo>
                  <a:lnTo>
                    <a:pt x="11699" y="68075"/>
                  </a:lnTo>
                  <a:lnTo>
                    <a:pt x="3141" y="55399"/>
                  </a:lnTo>
                  <a:lnTo>
                    <a:pt x="0" y="39878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79875" y="5710529"/>
              <a:ext cx="101980" cy="1019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27144" y="5967653"/>
              <a:ext cx="101981" cy="1019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888852" y="492671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406145"/>
                  </a:moveTo>
                  <a:lnTo>
                    <a:pt x="2732" y="358785"/>
                  </a:lnTo>
                  <a:lnTo>
                    <a:pt x="10727" y="313028"/>
                  </a:lnTo>
                  <a:lnTo>
                    <a:pt x="23680" y="269180"/>
                  </a:lnTo>
                  <a:lnTo>
                    <a:pt x="41285" y="227544"/>
                  </a:lnTo>
                  <a:lnTo>
                    <a:pt x="63238" y="188427"/>
                  </a:lnTo>
                  <a:lnTo>
                    <a:pt x="89233" y="152133"/>
                  </a:lnTo>
                  <a:lnTo>
                    <a:pt x="118967" y="118967"/>
                  </a:lnTo>
                  <a:lnTo>
                    <a:pt x="152133" y="89233"/>
                  </a:lnTo>
                  <a:lnTo>
                    <a:pt x="188427" y="63238"/>
                  </a:lnTo>
                  <a:lnTo>
                    <a:pt x="227544" y="41285"/>
                  </a:lnTo>
                  <a:lnTo>
                    <a:pt x="269180" y="23680"/>
                  </a:lnTo>
                  <a:lnTo>
                    <a:pt x="313028" y="10727"/>
                  </a:lnTo>
                  <a:lnTo>
                    <a:pt x="358785" y="2732"/>
                  </a:lnTo>
                  <a:lnTo>
                    <a:pt x="406146" y="0"/>
                  </a:lnTo>
                  <a:lnTo>
                    <a:pt x="453506" y="2732"/>
                  </a:lnTo>
                  <a:lnTo>
                    <a:pt x="499263" y="10727"/>
                  </a:lnTo>
                  <a:lnTo>
                    <a:pt x="543111" y="23680"/>
                  </a:lnTo>
                  <a:lnTo>
                    <a:pt x="584747" y="41285"/>
                  </a:lnTo>
                  <a:lnTo>
                    <a:pt x="623864" y="63238"/>
                  </a:lnTo>
                  <a:lnTo>
                    <a:pt x="660158" y="89233"/>
                  </a:lnTo>
                  <a:lnTo>
                    <a:pt x="693324" y="118967"/>
                  </a:lnTo>
                  <a:lnTo>
                    <a:pt x="723058" y="152133"/>
                  </a:lnTo>
                  <a:lnTo>
                    <a:pt x="749053" y="188427"/>
                  </a:lnTo>
                  <a:lnTo>
                    <a:pt x="771006" y="227544"/>
                  </a:lnTo>
                  <a:lnTo>
                    <a:pt x="788611" y="269180"/>
                  </a:lnTo>
                  <a:lnTo>
                    <a:pt x="801564" y="313028"/>
                  </a:lnTo>
                  <a:lnTo>
                    <a:pt x="809559" y="358785"/>
                  </a:lnTo>
                  <a:lnTo>
                    <a:pt x="812292" y="406145"/>
                  </a:lnTo>
                  <a:lnTo>
                    <a:pt x="809559" y="453506"/>
                  </a:lnTo>
                  <a:lnTo>
                    <a:pt x="801564" y="499262"/>
                  </a:lnTo>
                  <a:lnTo>
                    <a:pt x="788611" y="543110"/>
                  </a:lnTo>
                  <a:lnTo>
                    <a:pt x="771006" y="584744"/>
                  </a:lnTo>
                  <a:lnTo>
                    <a:pt x="749053" y="623860"/>
                  </a:lnTo>
                  <a:lnTo>
                    <a:pt x="723058" y="660153"/>
                  </a:lnTo>
                  <a:lnTo>
                    <a:pt x="693324" y="693318"/>
                  </a:lnTo>
                  <a:lnTo>
                    <a:pt x="660158" y="723050"/>
                  </a:lnTo>
                  <a:lnTo>
                    <a:pt x="623864" y="749044"/>
                  </a:lnTo>
                  <a:lnTo>
                    <a:pt x="584747" y="770996"/>
                  </a:lnTo>
                  <a:lnTo>
                    <a:pt x="543111" y="788600"/>
                  </a:lnTo>
                  <a:lnTo>
                    <a:pt x="499263" y="801552"/>
                  </a:lnTo>
                  <a:lnTo>
                    <a:pt x="453506" y="809546"/>
                  </a:lnTo>
                  <a:lnTo>
                    <a:pt x="406146" y="812279"/>
                  </a:lnTo>
                  <a:lnTo>
                    <a:pt x="358785" y="809546"/>
                  </a:lnTo>
                  <a:lnTo>
                    <a:pt x="313028" y="801552"/>
                  </a:lnTo>
                  <a:lnTo>
                    <a:pt x="269180" y="788600"/>
                  </a:lnTo>
                  <a:lnTo>
                    <a:pt x="227544" y="770996"/>
                  </a:lnTo>
                  <a:lnTo>
                    <a:pt x="188427" y="749044"/>
                  </a:lnTo>
                  <a:lnTo>
                    <a:pt x="152133" y="723050"/>
                  </a:lnTo>
                  <a:lnTo>
                    <a:pt x="118967" y="693318"/>
                  </a:lnTo>
                  <a:lnTo>
                    <a:pt x="89233" y="660153"/>
                  </a:lnTo>
                  <a:lnTo>
                    <a:pt x="63238" y="623860"/>
                  </a:lnTo>
                  <a:lnTo>
                    <a:pt x="41285" y="584744"/>
                  </a:lnTo>
                  <a:lnTo>
                    <a:pt x="23680" y="543110"/>
                  </a:lnTo>
                  <a:lnTo>
                    <a:pt x="10727" y="499262"/>
                  </a:lnTo>
                  <a:lnTo>
                    <a:pt x="2732" y="453506"/>
                  </a:lnTo>
                  <a:lnTo>
                    <a:pt x="0" y="40614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236959" y="5292978"/>
              <a:ext cx="192405" cy="176530"/>
            </a:xfrm>
            <a:custGeom>
              <a:avLst/>
              <a:gdLst/>
              <a:ahLst/>
              <a:cxnLst/>
              <a:rect l="l" t="t" r="r" b="b"/>
              <a:pathLst>
                <a:path w="192404" h="176529">
                  <a:moveTo>
                    <a:pt x="0" y="39878"/>
                  </a:moveTo>
                  <a:lnTo>
                    <a:pt x="3141" y="24324"/>
                  </a:lnTo>
                  <a:lnTo>
                    <a:pt x="11699" y="11652"/>
                  </a:lnTo>
                  <a:lnTo>
                    <a:pt x="24378" y="3123"/>
                  </a:lnTo>
                  <a:lnTo>
                    <a:pt x="39878" y="0"/>
                  </a:lnTo>
                  <a:lnTo>
                    <a:pt x="55431" y="3123"/>
                  </a:lnTo>
                  <a:lnTo>
                    <a:pt x="68103" y="11652"/>
                  </a:lnTo>
                  <a:lnTo>
                    <a:pt x="76632" y="24324"/>
                  </a:lnTo>
                  <a:lnTo>
                    <a:pt x="79756" y="39878"/>
                  </a:lnTo>
                  <a:lnTo>
                    <a:pt x="76632" y="55377"/>
                  </a:lnTo>
                  <a:lnTo>
                    <a:pt x="68103" y="68056"/>
                  </a:lnTo>
                  <a:lnTo>
                    <a:pt x="55431" y="76614"/>
                  </a:lnTo>
                  <a:lnTo>
                    <a:pt x="39878" y="79756"/>
                  </a:lnTo>
                  <a:lnTo>
                    <a:pt x="24378" y="76614"/>
                  </a:lnTo>
                  <a:lnTo>
                    <a:pt x="11699" y="68056"/>
                  </a:lnTo>
                  <a:lnTo>
                    <a:pt x="3141" y="55377"/>
                  </a:lnTo>
                  <a:lnTo>
                    <a:pt x="0" y="39878"/>
                  </a:lnTo>
                  <a:close/>
                </a:path>
                <a:path w="192404" h="176529">
                  <a:moveTo>
                    <a:pt x="112395" y="136271"/>
                  </a:moveTo>
                  <a:lnTo>
                    <a:pt x="115518" y="120771"/>
                  </a:lnTo>
                  <a:lnTo>
                    <a:pt x="124047" y="108092"/>
                  </a:lnTo>
                  <a:lnTo>
                    <a:pt x="136719" y="99534"/>
                  </a:lnTo>
                  <a:lnTo>
                    <a:pt x="152273" y="96393"/>
                  </a:lnTo>
                  <a:lnTo>
                    <a:pt x="167772" y="99534"/>
                  </a:lnTo>
                  <a:lnTo>
                    <a:pt x="180451" y="108092"/>
                  </a:lnTo>
                  <a:lnTo>
                    <a:pt x="189009" y="120771"/>
                  </a:lnTo>
                  <a:lnTo>
                    <a:pt x="192150" y="136271"/>
                  </a:lnTo>
                  <a:lnTo>
                    <a:pt x="189009" y="151824"/>
                  </a:lnTo>
                  <a:lnTo>
                    <a:pt x="180451" y="164496"/>
                  </a:lnTo>
                  <a:lnTo>
                    <a:pt x="167772" y="173025"/>
                  </a:lnTo>
                  <a:lnTo>
                    <a:pt x="152273" y="176149"/>
                  </a:lnTo>
                  <a:lnTo>
                    <a:pt x="136719" y="173025"/>
                  </a:lnTo>
                  <a:lnTo>
                    <a:pt x="124047" y="164496"/>
                  </a:lnTo>
                  <a:lnTo>
                    <a:pt x="115518" y="151824"/>
                  </a:lnTo>
                  <a:lnTo>
                    <a:pt x="112395" y="136271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44008" y="5054282"/>
              <a:ext cx="101980" cy="10185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65954" y="5373560"/>
              <a:ext cx="101980" cy="10198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363197" y="553173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39878"/>
                  </a:moveTo>
                  <a:lnTo>
                    <a:pt x="3141" y="24324"/>
                  </a:lnTo>
                  <a:lnTo>
                    <a:pt x="11699" y="11652"/>
                  </a:lnTo>
                  <a:lnTo>
                    <a:pt x="24378" y="3123"/>
                  </a:lnTo>
                  <a:lnTo>
                    <a:pt x="39877" y="0"/>
                  </a:lnTo>
                  <a:lnTo>
                    <a:pt x="55431" y="3123"/>
                  </a:lnTo>
                  <a:lnTo>
                    <a:pt x="68103" y="11652"/>
                  </a:lnTo>
                  <a:lnTo>
                    <a:pt x="76632" y="24324"/>
                  </a:lnTo>
                  <a:lnTo>
                    <a:pt x="79755" y="39878"/>
                  </a:lnTo>
                  <a:lnTo>
                    <a:pt x="76632" y="55362"/>
                  </a:lnTo>
                  <a:lnTo>
                    <a:pt x="68103" y="68019"/>
                  </a:lnTo>
                  <a:lnTo>
                    <a:pt x="55431" y="76559"/>
                  </a:lnTo>
                  <a:lnTo>
                    <a:pt x="39877" y="79692"/>
                  </a:lnTo>
                  <a:lnTo>
                    <a:pt x="24378" y="76559"/>
                  </a:lnTo>
                  <a:lnTo>
                    <a:pt x="11699" y="68019"/>
                  </a:lnTo>
                  <a:lnTo>
                    <a:pt x="3141" y="55362"/>
                  </a:lnTo>
                  <a:lnTo>
                    <a:pt x="0" y="39878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56428" y="5319077"/>
              <a:ext cx="101980" cy="10198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339448" y="5227700"/>
              <a:ext cx="220979" cy="312420"/>
            </a:xfrm>
            <a:custGeom>
              <a:avLst/>
              <a:gdLst/>
              <a:ahLst/>
              <a:cxnLst/>
              <a:rect l="l" t="t" r="r" b="b"/>
              <a:pathLst>
                <a:path w="220979" h="312420">
                  <a:moveTo>
                    <a:pt x="140843" y="272288"/>
                  </a:moveTo>
                  <a:lnTo>
                    <a:pt x="143966" y="256788"/>
                  </a:lnTo>
                  <a:lnTo>
                    <a:pt x="152495" y="244109"/>
                  </a:lnTo>
                  <a:lnTo>
                    <a:pt x="165167" y="235551"/>
                  </a:lnTo>
                  <a:lnTo>
                    <a:pt x="180721" y="232410"/>
                  </a:lnTo>
                  <a:lnTo>
                    <a:pt x="196220" y="235551"/>
                  </a:lnTo>
                  <a:lnTo>
                    <a:pt x="208899" y="244109"/>
                  </a:lnTo>
                  <a:lnTo>
                    <a:pt x="217457" y="256788"/>
                  </a:lnTo>
                  <a:lnTo>
                    <a:pt x="220599" y="272288"/>
                  </a:lnTo>
                  <a:lnTo>
                    <a:pt x="217457" y="287841"/>
                  </a:lnTo>
                  <a:lnTo>
                    <a:pt x="208899" y="300513"/>
                  </a:lnTo>
                  <a:lnTo>
                    <a:pt x="196220" y="309042"/>
                  </a:lnTo>
                  <a:lnTo>
                    <a:pt x="180721" y="312166"/>
                  </a:lnTo>
                  <a:lnTo>
                    <a:pt x="165167" y="309042"/>
                  </a:lnTo>
                  <a:lnTo>
                    <a:pt x="152495" y="300513"/>
                  </a:lnTo>
                  <a:lnTo>
                    <a:pt x="143966" y="287841"/>
                  </a:lnTo>
                  <a:lnTo>
                    <a:pt x="140843" y="272288"/>
                  </a:lnTo>
                  <a:close/>
                </a:path>
                <a:path w="220979" h="312420">
                  <a:moveTo>
                    <a:pt x="0" y="39878"/>
                  </a:moveTo>
                  <a:lnTo>
                    <a:pt x="3141" y="24378"/>
                  </a:lnTo>
                  <a:lnTo>
                    <a:pt x="11699" y="11699"/>
                  </a:lnTo>
                  <a:lnTo>
                    <a:pt x="24378" y="3141"/>
                  </a:lnTo>
                  <a:lnTo>
                    <a:pt x="39877" y="0"/>
                  </a:lnTo>
                  <a:lnTo>
                    <a:pt x="55431" y="3141"/>
                  </a:lnTo>
                  <a:lnTo>
                    <a:pt x="68103" y="11699"/>
                  </a:lnTo>
                  <a:lnTo>
                    <a:pt x="76632" y="24378"/>
                  </a:lnTo>
                  <a:lnTo>
                    <a:pt x="79755" y="39878"/>
                  </a:lnTo>
                  <a:lnTo>
                    <a:pt x="76632" y="55377"/>
                  </a:lnTo>
                  <a:lnTo>
                    <a:pt x="68103" y="68056"/>
                  </a:lnTo>
                  <a:lnTo>
                    <a:pt x="55431" y="76614"/>
                  </a:lnTo>
                  <a:lnTo>
                    <a:pt x="39877" y="79756"/>
                  </a:lnTo>
                  <a:lnTo>
                    <a:pt x="24378" y="76614"/>
                  </a:lnTo>
                  <a:lnTo>
                    <a:pt x="11699" y="68056"/>
                  </a:lnTo>
                  <a:lnTo>
                    <a:pt x="3141" y="55377"/>
                  </a:lnTo>
                  <a:lnTo>
                    <a:pt x="0" y="39878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898568" y="5254053"/>
              <a:ext cx="101980" cy="10198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45710" y="5511101"/>
              <a:ext cx="101980" cy="10200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0188320" y="6148527"/>
            <a:ext cx="789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Cluster1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93043" y="4581270"/>
            <a:ext cx="789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Cluster2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60" dirty="0"/>
              <a:t>Flowchart</a:t>
            </a:r>
            <a:r>
              <a:rPr spc="-5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60" dirty="0"/>
              <a:t>content-</a:t>
            </a:r>
            <a:r>
              <a:rPr spc="-90" dirty="0"/>
              <a:t>based</a:t>
            </a:r>
            <a:r>
              <a:rPr spc="-65" dirty="0"/>
              <a:t> </a:t>
            </a:r>
            <a:r>
              <a:rPr spc="-25" dirty="0"/>
              <a:t>recommender </a:t>
            </a:r>
            <a:r>
              <a:rPr spc="-114" dirty="0"/>
              <a:t>system</a:t>
            </a:r>
            <a:r>
              <a:rPr spc="-155" dirty="0"/>
              <a:t> </a:t>
            </a:r>
            <a:r>
              <a:rPr spc="-20" dirty="0"/>
              <a:t>using</a:t>
            </a:r>
            <a:r>
              <a:rPr spc="-175" dirty="0"/>
              <a:t> </a:t>
            </a:r>
            <a:r>
              <a:rPr spc="-70" dirty="0"/>
              <a:t>user</a:t>
            </a:r>
            <a:r>
              <a:rPr spc="-170" dirty="0"/>
              <a:t> </a:t>
            </a:r>
            <a:r>
              <a:rPr dirty="0"/>
              <a:t>profile</a:t>
            </a:r>
            <a:r>
              <a:rPr spc="-155" dirty="0"/>
              <a:t> </a:t>
            </a:r>
            <a:r>
              <a:rPr dirty="0"/>
              <a:t>and</a:t>
            </a:r>
            <a:r>
              <a:rPr spc="-160" dirty="0"/>
              <a:t> </a:t>
            </a:r>
            <a:r>
              <a:rPr spc="-85" dirty="0"/>
              <a:t>course</a:t>
            </a:r>
            <a:r>
              <a:rPr spc="-160" dirty="0"/>
              <a:t> </a:t>
            </a:r>
            <a:r>
              <a:rPr spc="-65" dirty="0"/>
              <a:t>genres</a:t>
            </a:r>
          </a:p>
        </p:txBody>
      </p:sp>
      <p:sp>
        <p:nvSpPr>
          <p:cNvPr id="3" name="object 3"/>
          <p:cNvSpPr/>
          <p:nvPr/>
        </p:nvSpPr>
        <p:spPr>
          <a:xfrm>
            <a:off x="728179" y="1792223"/>
            <a:ext cx="10565130" cy="2907030"/>
          </a:xfrm>
          <a:custGeom>
            <a:avLst/>
            <a:gdLst/>
            <a:ahLst/>
            <a:cxnLst/>
            <a:rect l="l" t="t" r="r" b="b"/>
            <a:pathLst>
              <a:path w="10565130" h="2907029">
                <a:moveTo>
                  <a:pt x="0" y="2907030"/>
                </a:moveTo>
                <a:lnTo>
                  <a:pt x="10564622" y="2907030"/>
                </a:lnTo>
                <a:lnTo>
                  <a:pt x="10564622" y="0"/>
                </a:lnTo>
                <a:lnTo>
                  <a:pt x="0" y="0"/>
                </a:lnTo>
                <a:lnTo>
                  <a:pt x="0" y="2907030"/>
                </a:lnTo>
                <a:close/>
              </a:path>
            </a:pathLst>
          </a:custGeom>
          <a:ln w="9525">
            <a:solidFill>
              <a:srgbClr val="0A48C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6907" y="1682623"/>
            <a:ext cx="10213975" cy="28911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34620" indent="-121920">
              <a:lnSpc>
                <a:spcPct val="100000"/>
              </a:lnSpc>
              <a:spcBef>
                <a:spcPts val="890"/>
              </a:spcBef>
              <a:buChar char="-"/>
              <a:tabLst>
                <a:tab pos="134620" algn="l"/>
              </a:tabLst>
            </a:pP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Raw</a:t>
            </a:r>
            <a:r>
              <a:rPr sz="1800" b="1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800" b="1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Collection:</a:t>
            </a:r>
            <a:r>
              <a:rPr sz="1800" b="1" spc="-9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Starts</a:t>
            </a:r>
            <a:r>
              <a:rPr sz="18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with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raw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8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8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raw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course</a:t>
            </a:r>
            <a:r>
              <a:rPr sz="18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spcBef>
                <a:spcPts val="790"/>
              </a:spcBef>
              <a:buChar char="-"/>
              <a:tabLst>
                <a:tab pos="134620" algn="l"/>
              </a:tabLst>
            </a:pP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800" b="1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Processing:</a:t>
            </a:r>
            <a:r>
              <a:rPr sz="1800" b="1" spc="-9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Both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datasets</a:t>
            </a:r>
            <a:r>
              <a:rPr sz="18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are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processed</a:t>
            </a:r>
            <a:r>
              <a:rPr sz="18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clean</a:t>
            </a:r>
            <a:r>
              <a:rPr sz="18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prepare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them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analysis.</a:t>
            </a:r>
            <a:endParaRPr sz="1800">
              <a:latin typeface="Calibri"/>
              <a:cs typeface="Calibri"/>
            </a:endParaRPr>
          </a:p>
          <a:p>
            <a:pPr marL="12700" marR="19685" indent="121920">
              <a:lnSpc>
                <a:spcPts val="1939"/>
              </a:lnSpc>
              <a:spcBef>
                <a:spcPts val="1030"/>
              </a:spcBef>
              <a:buChar char="-"/>
              <a:tabLst>
                <a:tab pos="134620" algn="l"/>
              </a:tabLst>
            </a:pP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Feature</a:t>
            </a:r>
            <a:r>
              <a:rPr sz="1800" b="1" spc="-8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Engineering:</a:t>
            </a:r>
            <a:r>
              <a:rPr sz="1800" b="1" spc="-10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Cleaned</a:t>
            </a:r>
            <a:r>
              <a:rPr sz="18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is</a:t>
            </a:r>
            <a:r>
              <a:rPr sz="18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C7CDB"/>
                </a:solidFill>
                <a:latin typeface="Calibri"/>
                <a:cs typeface="Calibri"/>
              </a:rPr>
              <a:t>transformed</a:t>
            </a:r>
            <a:r>
              <a:rPr sz="18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into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meaningful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features,</a:t>
            </a:r>
            <a:r>
              <a:rPr sz="18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creating</a:t>
            </a:r>
            <a:r>
              <a:rPr sz="18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8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profile</a:t>
            </a:r>
            <a:r>
              <a:rPr sz="18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vectors</a:t>
            </a:r>
            <a:r>
              <a:rPr sz="18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C7CDB"/>
                </a:solidFill>
                <a:latin typeface="Calibri"/>
                <a:cs typeface="Calibri"/>
              </a:rPr>
              <a:t>and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course</a:t>
            </a:r>
            <a:r>
              <a:rPr sz="1800" spc="-8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genre</a:t>
            </a:r>
            <a:r>
              <a:rPr sz="1800" spc="-9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vectors.</a:t>
            </a:r>
            <a:endParaRPr sz="180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spcBef>
                <a:spcPts val="755"/>
              </a:spcBef>
              <a:buChar char="-"/>
              <a:tabLst>
                <a:tab pos="134620" algn="l"/>
              </a:tabLst>
            </a:pP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Similarity</a:t>
            </a:r>
            <a:r>
              <a:rPr sz="1800" b="1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Calculation:</a:t>
            </a:r>
            <a:r>
              <a:rPr sz="1800" b="1" spc="-9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system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calculates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similarity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between</a:t>
            </a:r>
            <a:r>
              <a:rPr sz="18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8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profiles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course</a:t>
            </a:r>
            <a:r>
              <a:rPr sz="18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genres.</a:t>
            </a:r>
            <a:endParaRPr sz="180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spcBef>
                <a:spcPts val="795"/>
              </a:spcBef>
              <a:buChar char="-"/>
              <a:tabLst>
                <a:tab pos="134620" algn="l"/>
              </a:tabLst>
            </a:pPr>
            <a:r>
              <a:rPr sz="1800" b="1" spc="-10" dirty="0">
                <a:solidFill>
                  <a:srgbClr val="1C7CDB"/>
                </a:solidFill>
                <a:latin typeface="Calibri"/>
                <a:cs typeface="Calibri"/>
              </a:rPr>
              <a:t>Recommendation</a:t>
            </a:r>
            <a:r>
              <a:rPr sz="1800" b="1" spc="-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C7CDB"/>
                </a:solidFill>
                <a:latin typeface="Calibri"/>
                <a:cs typeface="Calibri"/>
              </a:rPr>
              <a:t>Generation:</a:t>
            </a:r>
            <a:r>
              <a:rPr sz="1800" b="1" spc="-9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Based</a:t>
            </a:r>
            <a:r>
              <a:rPr sz="18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on</a:t>
            </a:r>
            <a:r>
              <a:rPr sz="18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similarity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scores,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potential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course</a:t>
            </a:r>
            <a:r>
              <a:rPr sz="18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recommendations</a:t>
            </a:r>
            <a:r>
              <a:rPr sz="18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are</a:t>
            </a:r>
            <a:r>
              <a:rPr sz="18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generated.</a:t>
            </a:r>
            <a:endParaRPr sz="180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spcBef>
                <a:spcPts val="780"/>
              </a:spcBef>
              <a:buChar char="-"/>
              <a:tabLst>
                <a:tab pos="134620" algn="l"/>
              </a:tabLst>
            </a:pP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Ranking</a:t>
            </a:r>
            <a:r>
              <a:rPr sz="1800" b="1" spc="-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&amp;</a:t>
            </a:r>
            <a:r>
              <a:rPr sz="18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Filtering:</a:t>
            </a:r>
            <a:r>
              <a:rPr sz="1800" b="1" spc="-8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Recommendations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are</a:t>
            </a:r>
            <a:r>
              <a:rPr sz="18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ranked</a:t>
            </a:r>
            <a:r>
              <a:rPr sz="18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filtered</a:t>
            </a:r>
            <a:r>
              <a:rPr sz="18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ensure</a:t>
            </a:r>
            <a:r>
              <a:rPr sz="18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relevance.</a:t>
            </a:r>
            <a:endParaRPr sz="180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spcBef>
                <a:spcPts val="780"/>
              </a:spcBef>
              <a:buChar char="-"/>
              <a:tabLst>
                <a:tab pos="134620" algn="l"/>
              </a:tabLst>
            </a:pP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Final</a:t>
            </a:r>
            <a:r>
              <a:rPr sz="1800" b="1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Output:</a:t>
            </a:r>
            <a:r>
              <a:rPr sz="1800" b="1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process</a:t>
            </a:r>
            <a:r>
              <a:rPr sz="18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concludes</a:t>
            </a:r>
            <a:r>
              <a:rPr sz="18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with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list</a:t>
            </a:r>
            <a:r>
              <a:rPr sz="18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final</a:t>
            </a:r>
            <a:r>
              <a:rPr sz="18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course</a:t>
            </a:r>
            <a:r>
              <a:rPr sz="18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recommendations</a:t>
            </a:r>
            <a:r>
              <a:rPr sz="18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tailored</a:t>
            </a:r>
            <a:r>
              <a:rPr sz="18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to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user.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1519" y="4784090"/>
            <a:ext cx="2086610" cy="472440"/>
            <a:chOff x="781519" y="4784090"/>
            <a:chExt cx="2086610" cy="472440"/>
          </a:xfrm>
        </p:grpSpPr>
        <p:sp>
          <p:nvSpPr>
            <p:cNvPr id="6" name="object 6"/>
            <p:cNvSpPr/>
            <p:nvPr/>
          </p:nvSpPr>
          <p:spPr>
            <a:xfrm>
              <a:off x="2622804" y="4987290"/>
              <a:ext cx="245110" cy="269240"/>
            </a:xfrm>
            <a:custGeom>
              <a:avLst/>
              <a:gdLst/>
              <a:ahLst/>
              <a:cxnLst/>
              <a:rect l="l" t="t" r="r" b="b"/>
              <a:pathLst>
                <a:path w="245110" h="269239">
                  <a:moveTo>
                    <a:pt x="187960" y="217582"/>
                  </a:moveTo>
                  <a:lnTo>
                    <a:pt x="165607" y="237871"/>
                  </a:lnTo>
                  <a:lnTo>
                    <a:pt x="244982" y="268732"/>
                  </a:lnTo>
                  <a:lnTo>
                    <a:pt x="233275" y="226949"/>
                  </a:lnTo>
                  <a:lnTo>
                    <a:pt x="196469" y="226949"/>
                  </a:lnTo>
                  <a:lnTo>
                    <a:pt x="187960" y="217582"/>
                  </a:lnTo>
                  <a:close/>
                </a:path>
                <a:path w="245110" h="269239">
                  <a:moveTo>
                    <a:pt x="199675" y="206949"/>
                  </a:moveTo>
                  <a:lnTo>
                    <a:pt x="187960" y="217582"/>
                  </a:lnTo>
                  <a:lnTo>
                    <a:pt x="196469" y="226949"/>
                  </a:lnTo>
                  <a:lnTo>
                    <a:pt x="208152" y="216281"/>
                  </a:lnTo>
                  <a:lnTo>
                    <a:pt x="199675" y="206949"/>
                  </a:lnTo>
                  <a:close/>
                </a:path>
                <a:path w="245110" h="269239">
                  <a:moveTo>
                    <a:pt x="221995" y="186690"/>
                  </a:moveTo>
                  <a:lnTo>
                    <a:pt x="199675" y="206949"/>
                  </a:lnTo>
                  <a:lnTo>
                    <a:pt x="208152" y="216281"/>
                  </a:lnTo>
                  <a:lnTo>
                    <a:pt x="196469" y="226949"/>
                  </a:lnTo>
                  <a:lnTo>
                    <a:pt x="233275" y="226949"/>
                  </a:lnTo>
                  <a:lnTo>
                    <a:pt x="221995" y="186690"/>
                  </a:lnTo>
                  <a:close/>
                </a:path>
                <a:path w="245110" h="269239">
                  <a:moveTo>
                    <a:pt x="11683" y="0"/>
                  </a:moveTo>
                  <a:lnTo>
                    <a:pt x="0" y="10668"/>
                  </a:lnTo>
                  <a:lnTo>
                    <a:pt x="187960" y="217582"/>
                  </a:lnTo>
                  <a:lnTo>
                    <a:pt x="199675" y="206949"/>
                  </a:lnTo>
                  <a:lnTo>
                    <a:pt x="11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7869" y="4790440"/>
              <a:ext cx="1840864" cy="404495"/>
            </a:xfrm>
            <a:custGeom>
              <a:avLst/>
              <a:gdLst/>
              <a:ahLst/>
              <a:cxnLst/>
              <a:rect l="l" t="t" r="r" b="b"/>
              <a:pathLst>
                <a:path w="1840864" h="404495">
                  <a:moveTo>
                    <a:pt x="0" y="67437"/>
                  </a:moveTo>
                  <a:lnTo>
                    <a:pt x="5294" y="41201"/>
                  </a:lnTo>
                  <a:lnTo>
                    <a:pt x="19732" y="19764"/>
                  </a:lnTo>
                  <a:lnTo>
                    <a:pt x="41148" y="5304"/>
                  </a:lnTo>
                  <a:lnTo>
                    <a:pt x="67373" y="0"/>
                  </a:lnTo>
                  <a:lnTo>
                    <a:pt x="1773339" y="0"/>
                  </a:lnTo>
                  <a:lnTo>
                    <a:pt x="1799574" y="5304"/>
                  </a:lnTo>
                  <a:lnTo>
                    <a:pt x="1821011" y="19764"/>
                  </a:lnTo>
                  <a:lnTo>
                    <a:pt x="1835471" y="41201"/>
                  </a:lnTo>
                  <a:lnTo>
                    <a:pt x="1840776" y="67437"/>
                  </a:lnTo>
                  <a:lnTo>
                    <a:pt x="1840776" y="336931"/>
                  </a:lnTo>
                  <a:lnTo>
                    <a:pt x="1835471" y="363146"/>
                  </a:lnTo>
                  <a:lnTo>
                    <a:pt x="1821011" y="384540"/>
                  </a:lnTo>
                  <a:lnTo>
                    <a:pt x="1799574" y="398956"/>
                  </a:lnTo>
                  <a:lnTo>
                    <a:pt x="1773339" y="404241"/>
                  </a:lnTo>
                  <a:lnTo>
                    <a:pt x="67373" y="404241"/>
                  </a:lnTo>
                  <a:lnTo>
                    <a:pt x="41148" y="398956"/>
                  </a:lnTo>
                  <a:lnTo>
                    <a:pt x="19732" y="384540"/>
                  </a:lnTo>
                  <a:lnTo>
                    <a:pt x="5294" y="363146"/>
                  </a:lnTo>
                  <a:lnTo>
                    <a:pt x="0" y="336931"/>
                  </a:lnTo>
                  <a:lnTo>
                    <a:pt x="0" y="674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14780" y="4828413"/>
            <a:ext cx="138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Raw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67786" y="4790478"/>
            <a:ext cx="1280160" cy="93154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146685" marR="138430" indent="276860">
              <a:lnSpc>
                <a:spcPct val="100000"/>
              </a:lnSpc>
              <a:spcBef>
                <a:spcPts val="1390"/>
              </a:spcBef>
            </a:pPr>
            <a:r>
              <a:rPr sz="1800" spc="-20" dirty="0">
                <a:latin typeface="Calibri"/>
                <a:cs typeface="Calibri"/>
              </a:rPr>
              <a:t>Data </a:t>
            </a:r>
            <a:r>
              <a:rPr sz="1800" spc="-10" dirty="0"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38215" y="4790478"/>
            <a:ext cx="1338580" cy="93281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 marL="116839" marR="110489" indent="196215">
              <a:lnSpc>
                <a:spcPct val="100000"/>
              </a:lnSpc>
              <a:spcBef>
                <a:spcPts val="1400"/>
              </a:spcBef>
            </a:pPr>
            <a:r>
              <a:rPr sz="1800" spc="-10" dirty="0">
                <a:latin typeface="Calibri"/>
                <a:cs typeface="Calibri"/>
              </a:rPr>
              <a:t>Feature engineering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7869" y="5347080"/>
            <a:ext cx="1840864" cy="404495"/>
          </a:xfrm>
          <a:custGeom>
            <a:avLst/>
            <a:gdLst/>
            <a:ahLst/>
            <a:cxnLst/>
            <a:rect l="l" t="t" r="r" b="b"/>
            <a:pathLst>
              <a:path w="1840864" h="404495">
                <a:moveTo>
                  <a:pt x="0" y="67437"/>
                </a:moveTo>
                <a:lnTo>
                  <a:pt x="5294" y="41201"/>
                </a:lnTo>
                <a:lnTo>
                  <a:pt x="19732" y="19764"/>
                </a:lnTo>
                <a:lnTo>
                  <a:pt x="41148" y="5304"/>
                </a:lnTo>
                <a:lnTo>
                  <a:pt x="67373" y="0"/>
                </a:lnTo>
                <a:lnTo>
                  <a:pt x="1773339" y="0"/>
                </a:lnTo>
                <a:lnTo>
                  <a:pt x="1799574" y="5304"/>
                </a:lnTo>
                <a:lnTo>
                  <a:pt x="1821011" y="19764"/>
                </a:lnTo>
                <a:lnTo>
                  <a:pt x="1835471" y="41201"/>
                </a:lnTo>
                <a:lnTo>
                  <a:pt x="1840776" y="67437"/>
                </a:lnTo>
                <a:lnTo>
                  <a:pt x="1840776" y="336931"/>
                </a:lnTo>
                <a:lnTo>
                  <a:pt x="1835471" y="363156"/>
                </a:lnTo>
                <a:lnTo>
                  <a:pt x="1821011" y="384571"/>
                </a:lnTo>
                <a:lnTo>
                  <a:pt x="1799574" y="399010"/>
                </a:lnTo>
                <a:lnTo>
                  <a:pt x="1773339" y="404304"/>
                </a:lnTo>
                <a:lnTo>
                  <a:pt x="67373" y="404304"/>
                </a:lnTo>
                <a:lnTo>
                  <a:pt x="41148" y="399010"/>
                </a:lnTo>
                <a:lnTo>
                  <a:pt x="19732" y="384571"/>
                </a:lnTo>
                <a:lnTo>
                  <a:pt x="5294" y="363156"/>
                </a:lnTo>
                <a:lnTo>
                  <a:pt x="0" y="336931"/>
                </a:lnTo>
                <a:lnTo>
                  <a:pt x="0" y="67437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08100" y="5385308"/>
            <a:ext cx="1598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Raw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Course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09364" y="4790478"/>
            <a:ext cx="1060450" cy="93281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 marL="130175" marR="121920" indent="22860">
              <a:lnSpc>
                <a:spcPct val="100000"/>
              </a:lnSpc>
              <a:spcBef>
                <a:spcPts val="1400"/>
              </a:spcBef>
            </a:pPr>
            <a:r>
              <a:rPr sz="1800" spc="-10" dirty="0">
                <a:latin typeface="Calibri"/>
                <a:cs typeface="Calibri"/>
              </a:rPr>
              <a:t>Cleaned Datasets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10272" y="4790440"/>
            <a:ext cx="2262505" cy="404495"/>
          </a:xfrm>
          <a:custGeom>
            <a:avLst/>
            <a:gdLst/>
            <a:ahLst/>
            <a:cxnLst/>
            <a:rect l="l" t="t" r="r" b="b"/>
            <a:pathLst>
              <a:path w="2262504" h="404495">
                <a:moveTo>
                  <a:pt x="0" y="67437"/>
                </a:moveTo>
                <a:lnTo>
                  <a:pt x="5304" y="41201"/>
                </a:lnTo>
                <a:lnTo>
                  <a:pt x="19764" y="19764"/>
                </a:lnTo>
                <a:lnTo>
                  <a:pt x="41201" y="5304"/>
                </a:lnTo>
                <a:lnTo>
                  <a:pt x="67436" y="0"/>
                </a:lnTo>
                <a:lnTo>
                  <a:pt x="2195195" y="0"/>
                </a:lnTo>
                <a:lnTo>
                  <a:pt x="2221410" y="5304"/>
                </a:lnTo>
                <a:lnTo>
                  <a:pt x="2242804" y="19764"/>
                </a:lnTo>
                <a:lnTo>
                  <a:pt x="2257220" y="41201"/>
                </a:lnTo>
                <a:lnTo>
                  <a:pt x="2262504" y="67437"/>
                </a:lnTo>
                <a:lnTo>
                  <a:pt x="2262504" y="336931"/>
                </a:lnTo>
                <a:lnTo>
                  <a:pt x="2257220" y="363146"/>
                </a:lnTo>
                <a:lnTo>
                  <a:pt x="2242804" y="384540"/>
                </a:lnTo>
                <a:lnTo>
                  <a:pt x="2221410" y="398956"/>
                </a:lnTo>
                <a:lnTo>
                  <a:pt x="2195195" y="404241"/>
                </a:lnTo>
                <a:lnTo>
                  <a:pt x="67436" y="404241"/>
                </a:lnTo>
                <a:lnTo>
                  <a:pt x="41201" y="398956"/>
                </a:lnTo>
                <a:lnTo>
                  <a:pt x="19764" y="384540"/>
                </a:lnTo>
                <a:lnTo>
                  <a:pt x="5304" y="363146"/>
                </a:lnTo>
                <a:lnTo>
                  <a:pt x="0" y="336931"/>
                </a:lnTo>
                <a:lnTo>
                  <a:pt x="0" y="674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218044" y="4828413"/>
            <a:ext cx="184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User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Profile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10272" y="5318759"/>
            <a:ext cx="2262505" cy="403225"/>
          </a:xfrm>
          <a:custGeom>
            <a:avLst/>
            <a:gdLst/>
            <a:ahLst/>
            <a:cxnLst/>
            <a:rect l="l" t="t" r="r" b="b"/>
            <a:pathLst>
              <a:path w="2262504" h="403225">
                <a:moveTo>
                  <a:pt x="0" y="67182"/>
                </a:moveTo>
                <a:lnTo>
                  <a:pt x="5282" y="41040"/>
                </a:lnTo>
                <a:lnTo>
                  <a:pt x="19685" y="19684"/>
                </a:lnTo>
                <a:lnTo>
                  <a:pt x="41040" y="5282"/>
                </a:lnTo>
                <a:lnTo>
                  <a:pt x="67182" y="0"/>
                </a:lnTo>
                <a:lnTo>
                  <a:pt x="2195449" y="0"/>
                </a:lnTo>
                <a:lnTo>
                  <a:pt x="2221571" y="5282"/>
                </a:lnTo>
                <a:lnTo>
                  <a:pt x="2242883" y="19684"/>
                </a:lnTo>
                <a:lnTo>
                  <a:pt x="2257242" y="41040"/>
                </a:lnTo>
                <a:lnTo>
                  <a:pt x="2262504" y="67182"/>
                </a:lnTo>
                <a:lnTo>
                  <a:pt x="2262504" y="335572"/>
                </a:lnTo>
                <a:lnTo>
                  <a:pt x="2257242" y="361691"/>
                </a:lnTo>
                <a:lnTo>
                  <a:pt x="2242883" y="383022"/>
                </a:lnTo>
                <a:lnTo>
                  <a:pt x="2221571" y="397404"/>
                </a:lnTo>
                <a:lnTo>
                  <a:pt x="2195449" y="402678"/>
                </a:lnTo>
                <a:lnTo>
                  <a:pt x="67182" y="402678"/>
                </a:lnTo>
                <a:lnTo>
                  <a:pt x="41040" y="397404"/>
                </a:lnTo>
                <a:lnTo>
                  <a:pt x="19684" y="383022"/>
                </a:lnTo>
                <a:lnTo>
                  <a:pt x="5282" y="361691"/>
                </a:lnTo>
                <a:lnTo>
                  <a:pt x="0" y="335572"/>
                </a:lnTo>
                <a:lnTo>
                  <a:pt x="0" y="6718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126605" y="5356047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Course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Genre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18955" y="4790478"/>
            <a:ext cx="1231265" cy="93154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101600" marR="92710" indent="81915">
              <a:lnSpc>
                <a:spcPct val="100000"/>
              </a:lnSpc>
              <a:spcBef>
                <a:spcPts val="1390"/>
              </a:spcBef>
            </a:pPr>
            <a:r>
              <a:rPr sz="1800" spc="-10" dirty="0">
                <a:latin typeface="Calibri"/>
                <a:cs typeface="Calibri"/>
              </a:rPr>
              <a:t>Similarity Calculation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70213" y="5970295"/>
            <a:ext cx="1930400" cy="6572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7790" marR="89535" indent="435609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latin typeface="Calibri"/>
                <a:cs typeface="Calibri"/>
              </a:rPr>
              <a:t>Generate Recommendations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87413" y="5970333"/>
            <a:ext cx="1930400" cy="6572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368300">
              <a:lnSpc>
                <a:spcPct val="100000"/>
              </a:lnSpc>
              <a:spcBef>
                <a:spcPts val="1395"/>
              </a:spcBef>
            </a:pPr>
            <a:r>
              <a:rPr sz="1800" dirty="0">
                <a:latin typeface="Calibri"/>
                <a:cs typeface="Calibri"/>
              </a:rPr>
              <a:t>Rank &amp;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18307" y="5980519"/>
            <a:ext cx="3616960" cy="6565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6065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265"/>
              </a:spcBef>
            </a:pPr>
            <a:r>
              <a:rPr sz="2000" b="1" dirty="0">
                <a:latin typeface="Calibri"/>
                <a:cs typeface="Calibri"/>
              </a:rPr>
              <a:t>Final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Course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Recommendations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22423" y="5256021"/>
            <a:ext cx="245745" cy="298450"/>
          </a:xfrm>
          <a:custGeom>
            <a:avLst/>
            <a:gdLst/>
            <a:ahLst/>
            <a:cxnLst/>
            <a:rect l="l" t="t" r="r" b="b"/>
            <a:pathLst>
              <a:path w="245744" h="298450">
                <a:moveTo>
                  <a:pt x="191097" y="54044"/>
                </a:moveTo>
                <a:lnTo>
                  <a:pt x="0" y="288162"/>
                </a:lnTo>
                <a:lnTo>
                  <a:pt x="12318" y="298195"/>
                </a:lnTo>
                <a:lnTo>
                  <a:pt x="203412" y="64081"/>
                </a:lnTo>
                <a:lnTo>
                  <a:pt x="191097" y="54044"/>
                </a:lnTo>
                <a:close/>
              </a:path>
              <a:path w="245744" h="298450">
                <a:moveTo>
                  <a:pt x="235430" y="44195"/>
                </a:moveTo>
                <a:lnTo>
                  <a:pt x="199135" y="44195"/>
                </a:lnTo>
                <a:lnTo>
                  <a:pt x="211454" y="54228"/>
                </a:lnTo>
                <a:lnTo>
                  <a:pt x="203412" y="64081"/>
                </a:lnTo>
                <a:lnTo>
                  <a:pt x="226694" y="83057"/>
                </a:lnTo>
                <a:lnTo>
                  <a:pt x="235430" y="44195"/>
                </a:lnTo>
                <a:close/>
              </a:path>
              <a:path w="245744" h="298450">
                <a:moveTo>
                  <a:pt x="199135" y="44195"/>
                </a:moveTo>
                <a:lnTo>
                  <a:pt x="191097" y="54044"/>
                </a:lnTo>
                <a:lnTo>
                  <a:pt x="203412" y="64081"/>
                </a:lnTo>
                <a:lnTo>
                  <a:pt x="211454" y="54228"/>
                </a:lnTo>
                <a:lnTo>
                  <a:pt x="199135" y="44195"/>
                </a:lnTo>
                <a:close/>
              </a:path>
              <a:path w="245744" h="298450">
                <a:moveTo>
                  <a:pt x="245363" y="0"/>
                </a:moveTo>
                <a:lnTo>
                  <a:pt x="167639" y="34924"/>
                </a:lnTo>
                <a:lnTo>
                  <a:pt x="191097" y="54044"/>
                </a:lnTo>
                <a:lnTo>
                  <a:pt x="199135" y="44195"/>
                </a:lnTo>
                <a:lnTo>
                  <a:pt x="235430" y="44195"/>
                </a:lnTo>
                <a:lnTo>
                  <a:pt x="245363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7692" y="5218303"/>
            <a:ext cx="161671" cy="762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9433" y="5218684"/>
            <a:ext cx="168782" cy="76200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6869430" y="4988814"/>
            <a:ext cx="2549525" cy="535305"/>
          </a:xfrm>
          <a:custGeom>
            <a:avLst/>
            <a:gdLst/>
            <a:ahLst/>
            <a:cxnLst/>
            <a:rect l="l" t="t" r="r" b="b"/>
            <a:pathLst>
              <a:path w="2549525" h="535304">
                <a:moveTo>
                  <a:pt x="140843" y="3810"/>
                </a:moveTo>
                <a:lnTo>
                  <a:pt x="72390" y="54610"/>
                </a:lnTo>
                <a:lnTo>
                  <a:pt x="99390" y="68275"/>
                </a:lnTo>
                <a:lnTo>
                  <a:pt x="0" y="264414"/>
                </a:lnTo>
                <a:lnTo>
                  <a:pt x="7048" y="267970"/>
                </a:lnTo>
                <a:lnTo>
                  <a:pt x="0" y="271526"/>
                </a:lnTo>
                <a:lnTo>
                  <a:pt x="99301" y="467017"/>
                </a:lnTo>
                <a:lnTo>
                  <a:pt x="72390" y="480695"/>
                </a:lnTo>
                <a:lnTo>
                  <a:pt x="140843" y="531368"/>
                </a:lnTo>
                <a:lnTo>
                  <a:pt x="140538" y="480695"/>
                </a:lnTo>
                <a:lnTo>
                  <a:pt x="140525" y="478282"/>
                </a:lnTo>
                <a:lnTo>
                  <a:pt x="140411" y="459841"/>
                </a:lnTo>
                <a:lnTo>
                  <a:pt x="140335" y="446151"/>
                </a:lnTo>
                <a:lnTo>
                  <a:pt x="113423" y="459841"/>
                </a:lnTo>
                <a:lnTo>
                  <a:pt x="15900" y="267970"/>
                </a:lnTo>
                <a:lnTo>
                  <a:pt x="113474" y="75399"/>
                </a:lnTo>
                <a:lnTo>
                  <a:pt x="140462" y="89027"/>
                </a:lnTo>
                <a:lnTo>
                  <a:pt x="140563" y="64008"/>
                </a:lnTo>
                <a:lnTo>
                  <a:pt x="140601" y="56896"/>
                </a:lnTo>
                <a:lnTo>
                  <a:pt x="140843" y="3810"/>
                </a:lnTo>
                <a:close/>
              </a:path>
              <a:path w="2549525" h="535304">
                <a:moveTo>
                  <a:pt x="2549398" y="267208"/>
                </a:moveTo>
                <a:lnTo>
                  <a:pt x="2547239" y="215519"/>
                </a:lnTo>
                <a:lnTo>
                  <a:pt x="2545842" y="181991"/>
                </a:lnTo>
                <a:lnTo>
                  <a:pt x="2519451" y="196621"/>
                </a:lnTo>
                <a:lnTo>
                  <a:pt x="2410333" y="0"/>
                </a:lnTo>
                <a:lnTo>
                  <a:pt x="2396490" y="7620"/>
                </a:lnTo>
                <a:lnTo>
                  <a:pt x="2505481" y="204355"/>
                </a:lnTo>
                <a:lnTo>
                  <a:pt x="2479167" y="218948"/>
                </a:lnTo>
                <a:lnTo>
                  <a:pt x="2549398" y="267208"/>
                </a:lnTo>
                <a:close/>
              </a:path>
              <a:path w="2549525" h="535304">
                <a:moveTo>
                  <a:pt x="2549398" y="267208"/>
                </a:moveTo>
                <a:lnTo>
                  <a:pt x="2479294" y="315341"/>
                </a:lnTo>
                <a:lnTo>
                  <a:pt x="2505672" y="329971"/>
                </a:lnTo>
                <a:lnTo>
                  <a:pt x="2396490" y="527431"/>
                </a:lnTo>
                <a:lnTo>
                  <a:pt x="2410333" y="535178"/>
                </a:lnTo>
                <a:lnTo>
                  <a:pt x="2519502" y="337642"/>
                </a:lnTo>
                <a:lnTo>
                  <a:pt x="2545969" y="352298"/>
                </a:lnTo>
                <a:lnTo>
                  <a:pt x="2547302" y="318897"/>
                </a:lnTo>
                <a:lnTo>
                  <a:pt x="2549398" y="26720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97058" y="5721477"/>
            <a:ext cx="76055" cy="24881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17813" y="6260782"/>
            <a:ext cx="152400" cy="762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35013" y="6265773"/>
            <a:ext cx="152907" cy="760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6400"/>
            <a:ext cx="850011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100" dirty="0"/>
              <a:t>Evaluation</a:t>
            </a:r>
            <a:r>
              <a:rPr spc="-70" dirty="0"/>
              <a:t> </a:t>
            </a:r>
            <a:r>
              <a:rPr spc="-30" dirty="0"/>
              <a:t>results</a:t>
            </a:r>
            <a:r>
              <a:rPr spc="-8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50" dirty="0"/>
              <a:t>user</a:t>
            </a:r>
            <a:r>
              <a:rPr spc="-90" dirty="0"/>
              <a:t> </a:t>
            </a:r>
            <a:r>
              <a:rPr spc="-30" dirty="0"/>
              <a:t>profile-</a:t>
            </a:r>
            <a:r>
              <a:rPr spc="-95" dirty="0"/>
              <a:t>based </a:t>
            </a:r>
            <a:r>
              <a:rPr spc="-125" dirty="0"/>
              <a:t>recommender</a:t>
            </a:r>
            <a:r>
              <a:rPr spc="-5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933830" y="2481072"/>
            <a:ext cx="3930650" cy="4011929"/>
          </a:xfrm>
          <a:custGeom>
            <a:avLst/>
            <a:gdLst/>
            <a:ahLst/>
            <a:cxnLst/>
            <a:rect l="l" t="t" r="r" b="b"/>
            <a:pathLst>
              <a:path w="3930650" h="4011929">
                <a:moveTo>
                  <a:pt x="0" y="4011803"/>
                </a:moveTo>
                <a:lnTo>
                  <a:pt x="3930269" y="4011803"/>
                </a:lnTo>
                <a:lnTo>
                  <a:pt x="3930269" y="0"/>
                </a:lnTo>
                <a:lnTo>
                  <a:pt x="0" y="0"/>
                </a:lnTo>
                <a:lnTo>
                  <a:pt x="0" y="4011803"/>
                </a:lnTo>
                <a:close/>
              </a:path>
            </a:pathLst>
          </a:custGeom>
          <a:ln w="9525">
            <a:solidFill>
              <a:srgbClr val="0A48C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480" y="1545336"/>
          <a:ext cx="10420350" cy="5076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6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1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 gridSpan="3">
                  <a:txBody>
                    <a:bodyPr/>
                    <a:lstStyle/>
                    <a:p>
                      <a:pPr marL="91440">
                        <a:lnSpc>
                          <a:spcPts val="1340"/>
                        </a:lnSpc>
                      </a:pP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500" spc="8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score</a:t>
                      </a:r>
                      <a:r>
                        <a:rPr sz="1500" spc="8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threshold</a:t>
                      </a:r>
                      <a:r>
                        <a:rPr sz="1500" spc="9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500" spc="7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10.0</a:t>
                      </a:r>
                      <a:r>
                        <a:rPr sz="1500" spc="8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is</a:t>
                      </a:r>
                      <a:r>
                        <a:rPr sz="1500" spc="8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applied</a:t>
                      </a:r>
                      <a:r>
                        <a:rPr sz="1500" spc="9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1500" spc="8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filter</a:t>
                      </a:r>
                      <a:r>
                        <a:rPr sz="1500" spc="8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4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recommendations,</a:t>
                      </a:r>
                      <a:r>
                        <a:rPr sz="1500" spc="9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2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ensuring</a:t>
                      </a:r>
                      <a:r>
                        <a:rPr sz="1500" spc="7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that</a:t>
                      </a:r>
                      <a:r>
                        <a:rPr sz="1500" spc="8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only</a:t>
                      </a:r>
                      <a:r>
                        <a:rPr sz="1500" spc="8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4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courses</a:t>
                      </a:r>
                      <a:r>
                        <a:rPr sz="1500" spc="8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sz="1500" spc="8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500" spc="8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3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recommendation</a:t>
                      </a:r>
                      <a:r>
                        <a:rPr sz="1500" spc="9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score</a:t>
                      </a:r>
                      <a:r>
                        <a:rPr sz="1500" spc="7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91440" marR="83820">
                        <a:lnSpc>
                          <a:spcPct val="7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10.0</a:t>
                      </a:r>
                      <a:r>
                        <a:rPr sz="1500" spc="9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1500" spc="9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higher</a:t>
                      </a:r>
                      <a:r>
                        <a:rPr sz="1500" spc="10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are</a:t>
                      </a:r>
                      <a:r>
                        <a:rPr sz="1500" spc="9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included</a:t>
                      </a:r>
                      <a:r>
                        <a:rPr sz="1500" spc="1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1500" spc="9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1500" spc="10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final</a:t>
                      </a:r>
                      <a:r>
                        <a:rPr sz="1500" spc="9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2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results.</a:t>
                      </a:r>
                      <a:r>
                        <a:rPr sz="1500" spc="10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This</a:t>
                      </a:r>
                      <a:r>
                        <a:rPr sz="1500" spc="10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threshold</a:t>
                      </a:r>
                      <a:r>
                        <a:rPr sz="1500" spc="9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can</a:t>
                      </a:r>
                      <a:r>
                        <a:rPr sz="1500" spc="9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be</a:t>
                      </a:r>
                      <a:r>
                        <a:rPr sz="1500" spc="10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adjusted</a:t>
                      </a:r>
                      <a:r>
                        <a:rPr sz="1500" spc="1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1500" spc="1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3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fine-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tune</a:t>
                      </a:r>
                      <a:r>
                        <a:rPr sz="1500" spc="10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1500" spc="10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number</a:t>
                      </a:r>
                      <a:r>
                        <a:rPr sz="1500" spc="1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1500" spc="10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quality</a:t>
                      </a:r>
                      <a:r>
                        <a:rPr sz="1500" spc="1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500" spc="1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the </a:t>
                      </a:r>
                      <a:r>
                        <a:rPr sz="1500" spc="-3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generated </a:t>
                      </a:r>
                      <a:r>
                        <a:rPr sz="15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recommendations.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9525">
                      <a:solidFill>
                        <a:srgbClr val="0A48CA"/>
                      </a:solidFill>
                      <a:prstDash val="sysDash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35">
                <a:tc rowSpan="12">
                  <a:txBody>
                    <a:bodyPr/>
                    <a:lstStyle/>
                    <a:p>
                      <a:pPr marL="91440">
                        <a:lnSpc>
                          <a:spcPts val="2510"/>
                        </a:lnSpc>
                        <a:spcBef>
                          <a:spcPts val="2405"/>
                        </a:spcBef>
                      </a:pPr>
                      <a:r>
                        <a:rPr sz="22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On</a:t>
                      </a:r>
                      <a:r>
                        <a:rPr sz="2200" spc="-6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200" spc="-6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average,</a:t>
                      </a:r>
                      <a:r>
                        <a:rPr sz="2200" spc="-6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200" spc="-6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each</a:t>
                      </a:r>
                      <a:r>
                        <a:rPr sz="2200" spc="-5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200" spc="-3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user</a:t>
                      </a:r>
                      <a:r>
                        <a:rPr sz="2200" spc="-5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receives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ts val="2375"/>
                        </a:lnSpc>
                        <a:tabLst>
                          <a:tab pos="990600" algn="l"/>
                          <a:tab pos="1635125" algn="l"/>
                          <a:tab pos="2046605" algn="l"/>
                          <a:tab pos="3054350" algn="l"/>
                        </a:tabLst>
                      </a:pPr>
                      <a:r>
                        <a:rPr sz="2200" spc="4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60.82</a:t>
                      </a:r>
                      <a:r>
                        <a:rPr sz="22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2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new</a:t>
                      </a:r>
                      <a:r>
                        <a:rPr sz="22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2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22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unseen</a:t>
                      </a:r>
                      <a:r>
                        <a:rPr sz="22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course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ts val="2510"/>
                        </a:lnSpc>
                      </a:pPr>
                      <a:r>
                        <a:rPr sz="2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recommendations.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54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3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Top</a:t>
                      </a:r>
                      <a:r>
                        <a:rPr sz="2000" spc="-5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8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10</a:t>
                      </a:r>
                      <a:r>
                        <a:rPr sz="2000" spc="-4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most</a:t>
                      </a:r>
                      <a:r>
                        <a:rPr sz="2000" spc="-4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frequently</a:t>
                      </a:r>
                      <a:r>
                        <a:rPr sz="2000" spc="-7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5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recommended</a:t>
                      </a:r>
                      <a:r>
                        <a:rPr sz="2000" spc="-6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courses: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A48CA"/>
                      </a:solidFill>
                      <a:prstDash val="sysDash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54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54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introduction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science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python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10343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54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applied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learning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python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9291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54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accelerating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deep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learning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gpu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8246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54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foundations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big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analysis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sql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7718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54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analyzing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big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apache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spark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7373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54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learning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python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7285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54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getting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started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apache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spark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makers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build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7066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54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analyzing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big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sql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7008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54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spark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overview for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scala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analytics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6355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543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spark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fundamentals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ii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5725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60" dirty="0"/>
              <a:t>Flowchart</a:t>
            </a:r>
            <a:r>
              <a:rPr spc="-5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60" dirty="0"/>
              <a:t>content-</a:t>
            </a:r>
            <a:r>
              <a:rPr spc="-90" dirty="0"/>
              <a:t>based</a:t>
            </a:r>
            <a:r>
              <a:rPr spc="-65" dirty="0"/>
              <a:t> </a:t>
            </a:r>
            <a:r>
              <a:rPr spc="-105" dirty="0"/>
              <a:t>recommender </a:t>
            </a:r>
            <a:r>
              <a:rPr spc="-114" dirty="0"/>
              <a:t>system</a:t>
            </a:r>
            <a:r>
              <a:rPr spc="-155" dirty="0"/>
              <a:t> </a:t>
            </a:r>
            <a:r>
              <a:rPr spc="-20" dirty="0"/>
              <a:t>using</a:t>
            </a:r>
            <a:r>
              <a:rPr spc="-200" dirty="0"/>
              <a:t> </a:t>
            </a:r>
            <a:r>
              <a:rPr spc="-85" dirty="0"/>
              <a:t>course</a:t>
            </a:r>
            <a:r>
              <a:rPr spc="-175" dirty="0"/>
              <a:t> </a:t>
            </a:r>
            <a:r>
              <a:rPr spc="-10" dirty="0"/>
              <a:t>similarity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5662" y="1792223"/>
            <a:ext cx="10515600" cy="2859405"/>
          </a:xfrm>
          <a:prstGeom prst="rect">
            <a:avLst/>
          </a:prstGeom>
          <a:ln w="9525">
            <a:solidFill>
              <a:srgbClr val="0A48CA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213360" indent="-121920">
              <a:lnSpc>
                <a:spcPct val="100000"/>
              </a:lnSpc>
              <a:spcBef>
                <a:spcPts val="30"/>
              </a:spcBef>
              <a:buChar char="-"/>
              <a:tabLst>
                <a:tab pos="213360" algn="l"/>
              </a:tabLst>
            </a:pP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Raw</a:t>
            </a:r>
            <a:r>
              <a:rPr sz="1800" b="1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Course</a:t>
            </a:r>
            <a:r>
              <a:rPr sz="1800" b="1" spc="-7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Data:</a:t>
            </a:r>
            <a:r>
              <a:rPr sz="1800" b="1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Starts</a:t>
            </a:r>
            <a:r>
              <a:rPr sz="1800" spc="-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with</a:t>
            </a:r>
            <a:r>
              <a:rPr sz="18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raw</a:t>
            </a:r>
            <a:r>
              <a:rPr sz="18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course</a:t>
            </a:r>
            <a:r>
              <a:rPr sz="18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213360" indent="-121920">
              <a:lnSpc>
                <a:spcPct val="100000"/>
              </a:lnSpc>
              <a:spcBef>
                <a:spcPts val="790"/>
              </a:spcBef>
              <a:buChar char="-"/>
              <a:tabLst>
                <a:tab pos="213360" algn="l"/>
              </a:tabLst>
            </a:pP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8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C7CDB"/>
                </a:solidFill>
                <a:latin typeface="Calibri"/>
                <a:cs typeface="Calibri"/>
              </a:rPr>
              <a:t>Processing:</a:t>
            </a:r>
            <a:r>
              <a:rPr sz="1800" b="1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8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cleaned</a:t>
            </a:r>
            <a:r>
              <a:rPr sz="18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prepared.</a:t>
            </a:r>
            <a:endParaRPr sz="1800">
              <a:latin typeface="Calibri"/>
              <a:cs typeface="Calibri"/>
            </a:endParaRPr>
          </a:p>
          <a:p>
            <a:pPr marL="213360" indent="-121920">
              <a:lnSpc>
                <a:spcPct val="100000"/>
              </a:lnSpc>
              <a:spcBef>
                <a:spcPts val="780"/>
              </a:spcBef>
              <a:buChar char="-"/>
              <a:tabLst>
                <a:tab pos="213360" algn="l"/>
              </a:tabLst>
            </a:pPr>
            <a:r>
              <a:rPr sz="1800" b="1" spc="-10" dirty="0">
                <a:solidFill>
                  <a:srgbClr val="1C7CDB"/>
                </a:solidFill>
                <a:latin typeface="Calibri"/>
                <a:cs typeface="Calibri"/>
              </a:rPr>
              <a:t>Feature</a:t>
            </a:r>
            <a:r>
              <a:rPr sz="1800" b="1" spc="-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Engineering:</a:t>
            </a:r>
            <a:r>
              <a:rPr sz="1800" b="1" spc="-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Cleaned</a:t>
            </a:r>
            <a:r>
              <a:rPr sz="18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is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C7CDB"/>
                </a:solidFill>
                <a:latin typeface="Calibri"/>
                <a:cs typeface="Calibri"/>
              </a:rPr>
              <a:t>transformed</a:t>
            </a:r>
            <a:r>
              <a:rPr sz="18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into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course</a:t>
            </a:r>
            <a:r>
              <a:rPr sz="18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feature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vectors.</a:t>
            </a:r>
            <a:endParaRPr sz="1800">
              <a:latin typeface="Calibri"/>
              <a:cs typeface="Calibri"/>
            </a:endParaRPr>
          </a:p>
          <a:p>
            <a:pPr marL="213360" indent="-121920">
              <a:lnSpc>
                <a:spcPct val="100000"/>
              </a:lnSpc>
              <a:spcBef>
                <a:spcPts val="780"/>
              </a:spcBef>
              <a:buChar char="-"/>
              <a:tabLst>
                <a:tab pos="213360" algn="l"/>
              </a:tabLst>
            </a:pP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Similarity</a:t>
            </a:r>
            <a:r>
              <a:rPr sz="1800" b="1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Matrix:</a:t>
            </a:r>
            <a:r>
              <a:rPr sz="1800" b="1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800" spc="-20" dirty="0">
                <a:solidFill>
                  <a:srgbClr val="1C7CDB"/>
                </a:solidFill>
                <a:latin typeface="Calibri"/>
                <a:cs typeface="Calibri"/>
              </a:rPr>
              <a:t> course-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course</a:t>
            </a:r>
            <a:r>
              <a:rPr sz="1800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similarity</a:t>
            </a:r>
            <a:r>
              <a:rPr sz="18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matrix</a:t>
            </a:r>
            <a:r>
              <a:rPr sz="18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is</a:t>
            </a:r>
            <a:r>
              <a:rPr sz="18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calculated.</a:t>
            </a:r>
            <a:endParaRPr sz="1800">
              <a:latin typeface="Calibri"/>
              <a:cs typeface="Calibri"/>
            </a:endParaRPr>
          </a:p>
          <a:p>
            <a:pPr marL="213360" indent="-121920">
              <a:lnSpc>
                <a:spcPct val="100000"/>
              </a:lnSpc>
              <a:spcBef>
                <a:spcPts val="795"/>
              </a:spcBef>
              <a:buChar char="-"/>
              <a:tabLst>
                <a:tab pos="213360" algn="l"/>
              </a:tabLst>
            </a:pP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Find</a:t>
            </a:r>
            <a:r>
              <a:rPr sz="1800" b="1" spc="-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Similar</a:t>
            </a:r>
            <a:r>
              <a:rPr sz="1800" b="1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Courses:</a:t>
            </a:r>
            <a:r>
              <a:rPr sz="1800" b="1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Identifies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courses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with</a:t>
            </a:r>
            <a:r>
              <a:rPr sz="18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high</a:t>
            </a:r>
            <a:r>
              <a:rPr sz="18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similarity.</a:t>
            </a:r>
            <a:endParaRPr sz="1800">
              <a:latin typeface="Calibri"/>
              <a:cs typeface="Calibri"/>
            </a:endParaRPr>
          </a:p>
          <a:p>
            <a:pPr marL="213360" indent="-121920">
              <a:lnSpc>
                <a:spcPct val="100000"/>
              </a:lnSpc>
              <a:spcBef>
                <a:spcPts val="780"/>
              </a:spcBef>
              <a:buChar char="-"/>
              <a:tabLst>
                <a:tab pos="213360" algn="l"/>
              </a:tabLst>
            </a:pP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Rank</a:t>
            </a:r>
            <a:r>
              <a:rPr sz="1800" b="1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Courses:</a:t>
            </a:r>
            <a:r>
              <a:rPr sz="1800" b="1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Ranks</a:t>
            </a:r>
            <a:r>
              <a:rPr sz="18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similar</a:t>
            </a:r>
            <a:r>
              <a:rPr sz="18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courses</a:t>
            </a:r>
            <a:r>
              <a:rPr sz="18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by</a:t>
            </a:r>
            <a:r>
              <a:rPr sz="18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relevance.</a:t>
            </a:r>
            <a:endParaRPr sz="1800">
              <a:latin typeface="Calibri"/>
              <a:cs typeface="Calibri"/>
            </a:endParaRPr>
          </a:p>
          <a:p>
            <a:pPr marL="213360" indent="-121920">
              <a:lnSpc>
                <a:spcPct val="100000"/>
              </a:lnSpc>
              <a:spcBef>
                <a:spcPts val="780"/>
              </a:spcBef>
              <a:buChar char="-"/>
              <a:tabLst>
                <a:tab pos="213360" algn="l"/>
              </a:tabLst>
            </a:pPr>
            <a:r>
              <a:rPr sz="1800" b="1" dirty="0">
                <a:solidFill>
                  <a:srgbClr val="1C7CDB"/>
                </a:solidFill>
                <a:latin typeface="Calibri"/>
                <a:cs typeface="Calibri"/>
              </a:rPr>
              <a:t>Final</a:t>
            </a:r>
            <a:r>
              <a:rPr sz="1800" b="1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C7CDB"/>
                </a:solidFill>
                <a:latin typeface="Calibri"/>
                <a:cs typeface="Calibri"/>
              </a:rPr>
              <a:t>Recommendations:</a:t>
            </a:r>
            <a:r>
              <a:rPr sz="1800" b="1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Produces</a:t>
            </a:r>
            <a:r>
              <a:rPr sz="1800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list</a:t>
            </a:r>
            <a:r>
              <a:rPr sz="1800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7CDB"/>
                </a:solidFill>
                <a:latin typeface="Calibri"/>
                <a:cs typeface="Calibri"/>
              </a:rPr>
              <a:t>of</a:t>
            </a:r>
            <a:r>
              <a:rPr sz="1800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recommended</a:t>
            </a:r>
            <a:r>
              <a:rPr sz="1800" spc="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courses.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81519" y="4784090"/>
            <a:ext cx="1694814" cy="695960"/>
            <a:chOff x="781519" y="4784090"/>
            <a:chExt cx="1694814" cy="6959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8224" y="5092954"/>
              <a:ext cx="168020" cy="762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87869" y="4790440"/>
              <a:ext cx="1520825" cy="683260"/>
            </a:xfrm>
            <a:custGeom>
              <a:avLst/>
              <a:gdLst/>
              <a:ahLst/>
              <a:cxnLst/>
              <a:rect l="l" t="t" r="r" b="b"/>
              <a:pathLst>
                <a:path w="1520825" h="683260">
                  <a:moveTo>
                    <a:pt x="0" y="113918"/>
                  </a:moveTo>
                  <a:lnTo>
                    <a:pt x="8947" y="69597"/>
                  </a:lnTo>
                  <a:lnTo>
                    <a:pt x="33350" y="33385"/>
                  </a:lnTo>
                  <a:lnTo>
                    <a:pt x="69544" y="8959"/>
                  </a:lnTo>
                  <a:lnTo>
                    <a:pt x="113868" y="0"/>
                  </a:lnTo>
                  <a:lnTo>
                    <a:pt x="1406690" y="0"/>
                  </a:lnTo>
                  <a:lnTo>
                    <a:pt x="1450991" y="8959"/>
                  </a:lnTo>
                  <a:lnTo>
                    <a:pt x="1487160" y="33385"/>
                  </a:lnTo>
                  <a:lnTo>
                    <a:pt x="1511542" y="69597"/>
                  </a:lnTo>
                  <a:lnTo>
                    <a:pt x="1520482" y="113918"/>
                  </a:lnTo>
                  <a:lnTo>
                    <a:pt x="1520482" y="569341"/>
                  </a:lnTo>
                  <a:lnTo>
                    <a:pt x="1511542" y="613715"/>
                  </a:lnTo>
                  <a:lnTo>
                    <a:pt x="1487160" y="649922"/>
                  </a:lnTo>
                  <a:lnTo>
                    <a:pt x="1450991" y="674318"/>
                  </a:lnTo>
                  <a:lnTo>
                    <a:pt x="1406690" y="683260"/>
                  </a:lnTo>
                  <a:lnTo>
                    <a:pt x="113868" y="683260"/>
                  </a:lnTo>
                  <a:lnTo>
                    <a:pt x="69544" y="674318"/>
                  </a:lnTo>
                  <a:lnTo>
                    <a:pt x="33350" y="649922"/>
                  </a:lnTo>
                  <a:lnTo>
                    <a:pt x="8947" y="613715"/>
                  </a:lnTo>
                  <a:lnTo>
                    <a:pt x="0" y="569341"/>
                  </a:lnTo>
                  <a:lnTo>
                    <a:pt x="0" y="11391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90396" y="4830826"/>
            <a:ext cx="1114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 marR="5080" indent="-32956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Raw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Course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76245" y="4788573"/>
            <a:ext cx="1280160" cy="6832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147955" marR="139700" indent="275590">
              <a:lnSpc>
                <a:spcPct val="100000"/>
              </a:lnSpc>
              <a:spcBef>
                <a:spcPts val="415"/>
              </a:spcBef>
            </a:pPr>
            <a:r>
              <a:rPr sz="1800" spc="-20" dirty="0">
                <a:latin typeface="Calibri"/>
                <a:cs typeface="Calibri"/>
              </a:rPr>
              <a:t>Data </a:t>
            </a:r>
            <a:r>
              <a:rPr sz="1800" spc="-10" dirty="0"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8576" y="4790465"/>
            <a:ext cx="1338580" cy="6813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117475" marR="110489" indent="196215">
              <a:lnSpc>
                <a:spcPct val="100000"/>
              </a:lnSpc>
              <a:spcBef>
                <a:spcPts val="409"/>
              </a:spcBef>
            </a:pPr>
            <a:r>
              <a:rPr sz="1800" spc="-10" dirty="0">
                <a:latin typeface="Calibri"/>
                <a:cs typeface="Calibri"/>
              </a:rPr>
              <a:t>Feature engineering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4046" y="4788573"/>
            <a:ext cx="1786889" cy="6832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538480" marR="161925" indent="-368935">
              <a:lnSpc>
                <a:spcPct val="100000"/>
              </a:lnSpc>
              <a:spcBef>
                <a:spcPts val="415"/>
              </a:spcBef>
            </a:pPr>
            <a:r>
              <a:rPr sz="1800" dirty="0">
                <a:latin typeface="Calibri"/>
                <a:cs typeface="Calibri"/>
              </a:rPr>
              <a:t>Cleaned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Course Dataset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35693" y="4790478"/>
            <a:ext cx="1945639" cy="6832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209550" marR="200025" indent="86360">
              <a:lnSpc>
                <a:spcPct val="100000"/>
              </a:lnSpc>
              <a:spcBef>
                <a:spcPts val="415"/>
              </a:spcBef>
            </a:pPr>
            <a:r>
              <a:rPr sz="1800" spc="-20" dirty="0">
                <a:latin typeface="Calibri"/>
                <a:cs typeface="Calibri"/>
              </a:rPr>
              <a:t>Course-</a:t>
            </a:r>
            <a:r>
              <a:rPr sz="1800" spc="-10" dirty="0">
                <a:latin typeface="Calibri"/>
                <a:cs typeface="Calibri"/>
              </a:rPr>
              <a:t>Course </a:t>
            </a:r>
            <a:r>
              <a:rPr sz="1800" dirty="0">
                <a:latin typeface="Calibri"/>
                <a:cs typeface="Calibri"/>
              </a:rPr>
              <a:t>Similarity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Matrix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5693" y="5675312"/>
            <a:ext cx="1945639" cy="64706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607695" marR="422275" indent="-177165">
              <a:lnSpc>
                <a:spcPct val="100000"/>
              </a:lnSpc>
              <a:spcBef>
                <a:spcPts val="275"/>
              </a:spcBef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Similar Courses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37400" y="5664695"/>
            <a:ext cx="1930400" cy="6572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600075" marR="385445" indent="-20574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Calibri"/>
                <a:cs typeface="Calibri"/>
              </a:rPr>
              <a:t>Rank </a:t>
            </a:r>
            <a:r>
              <a:rPr sz="1800" spc="-10" dirty="0">
                <a:latin typeface="Calibri"/>
                <a:cs typeface="Calibri"/>
              </a:rPr>
              <a:t>Similar Courses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2800" y="5665495"/>
            <a:ext cx="3616960" cy="6565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6065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265"/>
              </a:spcBef>
            </a:pPr>
            <a:r>
              <a:rPr sz="2000" b="1" dirty="0">
                <a:latin typeface="Calibri"/>
                <a:cs typeface="Calibri"/>
              </a:rPr>
              <a:t>Final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Course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Recommendations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6152" y="5092065"/>
            <a:ext cx="167894" cy="762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0682" y="5092572"/>
            <a:ext cx="167893" cy="762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67800" y="5957582"/>
            <a:ext cx="168148" cy="7616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69506" y="5955372"/>
            <a:ext cx="167894" cy="762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384795" y="4790516"/>
            <a:ext cx="1683385" cy="67437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496570" marR="130175" indent="-358140">
              <a:lnSpc>
                <a:spcPct val="100000"/>
              </a:lnSpc>
              <a:spcBef>
                <a:spcPts val="380"/>
              </a:spcBef>
            </a:pPr>
            <a:r>
              <a:rPr sz="1800" dirty="0">
                <a:latin typeface="Calibri"/>
                <a:cs typeface="Calibri"/>
              </a:rPr>
              <a:t>Course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 Vectors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647" y="5091048"/>
            <a:ext cx="168148" cy="762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67545" y="5091938"/>
            <a:ext cx="168148" cy="7607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70286" y="5473700"/>
            <a:ext cx="76200" cy="2015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6400"/>
            <a:ext cx="953833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100" dirty="0"/>
              <a:t>Evaluation </a:t>
            </a:r>
            <a:r>
              <a:rPr spc="-30" dirty="0"/>
              <a:t>results</a:t>
            </a:r>
            <a:r>
              <a:rPr spc="-120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spc="-85" dirty="0"/>
              <a:t>course</a:t>
            </a:r>
            <a:r>
              <a:rPr spc="-110" dirty="0"/>
              <a:t> </a:t>
            </a:r>
            <a:r>
              <a:rPr spc="-20" dirty="0"/>
              <a:t>similarity</a:t>
            </a:r>
            <a:r>
              <a:rPr spc="-100" dirty="0"/>
              <a:t> </a:t>
            </a:r>
            <a:r>
              <a:rPr spc="-95" dirty="0"/>
              <a:t>based </a:t>
            </a:r>
            <a:r>
              <a:rPr spc="-125" dirty="0"/>
              <a:t>recommender</a:t>
            </a:r>
            <a:r>
              <a:rPr spc="-50" dirty="0"/>
              <a:t> </a:t>
            </a:r>
            <a:r>
              <a:rPr spc="-10" dirty="0"/>
              <a:t>system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7480" y="1545336"/>
          <a:ext cx="10419715" cy="5074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8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 gridSpan="3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700" spc="-13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Use</a:t>
                      </a:r>
                      <a:r>
                        <a:rPr sz="1700" spc="2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700" spc="-3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2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threshold</a:t>
                      </a:r>
                      <a:r>
                        <a:rPr sz="1700" spc="-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of 0.6</a:t>
                      </a:r>
                      <a:r>
                        <a:rPr sz="1700" spc="-1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1700" spc="-1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filtering </a:t>
                      </a:r>
                      <a:r>
                        <a:rPr sz="1700" spc="-4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recommendations.</a:t>
                      </a:r>
                      <a:r>
                        <a:rPr sz="17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6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This</a:t>
                      </a:r>
                      <a:r>
                        <a:rPr sz="1700" spc="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5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ensures</a:t>
                      </a:r>
                      <a:r>
                        <a:rPr sz="17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that</a:t>
                      </a:r>
                      <a:r>
                        <a:rPr sz="1700" spc="-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only</a:t>
                      </a:r>
                      <a:r>
                        <a:rPr sz="1700" spc="-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5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courses</a:t>
                      </a:r>
                      <a:r>
                        <a:rPr sz="1700" spc="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sz="17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a </a:t>
                      </a:r>
                      <a:r>
                        <a:rPr sz="17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similarity</a:t>
                      </a:r>
                      <a:r>
                        <a:rPr sz="1700" spc="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4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score</a:t>
                      </a:r>
                      <a:r>
                        <a:rPr sz="1700" spc="-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0.6</a:t>
                      </a:r>
                      <a:r>
                        <a:rPr sz="1700" spc="-4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1700" spc="-3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higher</a:t>
                      </a:r>
                      <a:r>
                        <a:rPr sz="17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2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are</a:t>
                      </a:r>
                      <a:r>
                        <a:rPr sz="1700" spc="-4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5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recommended,</a:t>
                      </a:r>
                      <a:r>
                        <a:rPr sz="1700" spc="-4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3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balancing</a:t>
                      </a:r>
                      <a:r>
                        <a:rPr sz="1700" spc="-1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5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relevance</a:t>
                      </a:r>
                      <a:r>
                        <a:rPr sz="1700" spc="-3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17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1700" spc="-3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number</a:t>
                      </a:r>
                      <a:r>
                        <a:rPr sz="1700" spc="-3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700" spc="-4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recommendations.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9525">
                      <a:solidFill>
                        <a:srgbClr val="0A48CA"/>
                      </a:solidFill>
                      <a:prstDash val="sysDash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A48CA"/>
                      </a:solidFill>
                      <a:prstDash val="sysDash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3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Top</a:t>
                      </a:r>
                      <a:r>
                        <a:rPr sz="2000" spc="-5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8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10</a:t>
                      </a:r>
                      <a:r>
                        <a:rPr sz="2000" spc="-4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most</a:t>
                      </a:r>
                      <a:r>
                        <a:rPr sz="2000" spc="-4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frequently</a:t>
                      </a:r>
                      <a:r>
                        <a:rPr sz="2000" spc="-7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5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recommended</a:t>
                      </a:r>
                      <a:r>
                        <a:rPr sz="2000" spc="-6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courses: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>
                    <a:lnL w="9525" cap="flat" cmpd="sng" algn="ctr">
                      <a:solidFill>
                        <a:srgbClr val="0A48CA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A48CA"/>
                      </a:solidFill>
                      <a:prstDash val="sysDash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">
                <a:tc rowSpan="12">
                  <a:txBody>
                    <a:bodyPr/>
                    <a:lstStyle/>
                    <a:p>
                      <a:pPr marL="91440" marR="252095">
                        <a:lnSpc>
                          <a:spcPts val="2380"/>
                        </a:lnSpc>
                        <a:spcBef>
                          <a:spcPts val="260"/>
                        </a:spcBef>
                      </a:pPr>
                      <a:r>
                        <a:rPr sz="2200" spc="-15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Each</a:t>
                      </a:r>
                      <a:r>
                        <a:rPr sz="22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200" spc="-5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user </a:t>
                      </a:r>
                      <a:r>
                        <a:rPr sz="2200" spc="-8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receives,</a:t>
                      </a:r>
                      <a:r>
                        <a:rPr sz="22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2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on</a:t>
                      </a:r>
                      <a:r>
                        <a:rPr sz="22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200" spc="-7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average,</a:t>
                      </a:r>
                      <a:r>
                        <a:rPr sz="2200" spc="-2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9.77 new</a:t>
                      </a:r>
                      <a:r>
                        <a:rPr sz="2200" spc="-3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20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2200" spc="-4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200" spc="-3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previously</a:t>
                      </a:r>
                      <a:r>
                        <a:rPr sz="2200" spc="-25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200" spc="-8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unseen</a:t>
                      </a:r>
                      <a:r>
                        <a:rPr sz="2200" spc="-5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course recommendations.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302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R w="9525">
                      <a:solidFill>
                        <a:srgbClr val="0A48CA"/>
                      </a:solidFill>
                      <a:prstDash val="sysDash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introduction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science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python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29874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analysis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python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17052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science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open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data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15003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science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fundamentals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analysts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14641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crash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course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science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14641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big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modeling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systems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13551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foundations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big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analysis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sql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13512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introduction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big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data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13291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fundamentals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big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data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13291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17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9525">
                      <a:solidFill>
                        <a:srgbClr val="0A48CA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  <a:lnB w="9525">
                      <a:solidFill>
                        <a:srgbClr val="0A48CA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sql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hadoop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12497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84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A48CA"/>
                      </a:solidFill>
                      <a:prstDash val="sysDash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60" dirty="0"/>
              <a:t>Flowchart </a:t>
            </a:r>
            <a:r>
              <a:rPr dirty="0"/>
              <a:t>of</a:t>
            </a:r>
            <a:r>
              <a:rPr spc="-60" dirty="0"/>
              <a:t> </a:t>
            </a:r>
            <a:r>
              <a:rPr spc="-70" dirty="0"/>
              <a:t>clustering-</a:t>
            </a:r>
            <a:r>
              <a:rPr spc="-90" dirty="0"/>
              <a:t>based</a:t>
            </a:r>
            <a:r>
              <a:rPr spc="-65" dirty="0"/>
              <a:t> </a:t>
            </a:r>
            <a:r>
              <a:rPr spc="-105" dirty="0"/>
              <a:t>recommender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855662" y="1792351"/>
            <a:ext cx="10515600" cy="2805430"/>
          </a:xfrm>
          <a:custGeom>
            <a:avLst/>
            <a:gdLst/>
            <a:ahLst/>
            <a:cxnLst/>
            <a:rect l="l" t="t" r="r" b="b"/>
            <a:pathLst>
              <a:path w="10515600" h="2805429">
                <a:moveTo>
                  <a:pt x="0" y="2805303"/>
                </a:moveTo>
                <a:lnTo>
                  <a:pt x="10515600" y="2805303"/>
                </a:lnTo>
                <a:lnTo>
                  <a:pt x="10515600" y="0"/>
                </a:lnTo>
                <a:lnTo>
                  <a:pt x="0" y="0"/>
                </a:lnTo>
                <a:lnTo>
                  <a:pt x="0" y="2805303"/>
                </a:lnTo>
                <a:close/>
              </a:path>
            </a:pathLst>
          </a:custGeom>
          <a:ln w="9524">
            <a:solidFill>
              <a:srgbClr val="0A48C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4618" y="1695425"/>
            <a:ext cx="7208520" cy="280289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95"/>
              </a:spcBef>
              <a:buFont typeface="Calibri"/>
              <a:buChar char="-"/>
              <a:tabLst>
                <a:tab pos="240665" algn="l"/>
              </a:tabLst>
            </a:pP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700" b="1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Data:</a:t>
            </a:r>
            <a:r>
              <a:rPr sz="1700" b="1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Begins</a:t>
            </a:r>
            <a:r>
              <a:rPr sz="17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with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raw</a:t>
            </a:r>
            <a:r>
              <a:rPr sz="17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7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data.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95"/>
              </a:spcBef>
              <a:buFont typeface="Calibri"/>
              <a:buChar char="-"/>
              <a:tabLst>
                <a:tab pos="240665" algn="l"/>
              </a:tabLst>
            </a:pP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700" b="1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Preprocessing:</a:t>
            </a:r>
            <a:r>
              <a:rPr sz="17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7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7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is</a:t>
            </a:r>
            <a:r>
              <a:rPr sz="17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cleaned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prepared</a:t>
            </a:r>
            <a:r>
              <a:rPr sz="1700" spc="-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7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analysis.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Font typeface="Calibri"/>
              <a:buChar char="-"/>
              <a:tabLst>
                <a:tab pos="240665" algn="l"/>
              </a:tabLst>
            </a:pP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Feature</a:t>
            </a:r>
            <a:r>
              <a:rPr sz="17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Extraction:</a:t>
            </a:r>
            <a:r>
              <a:rPr sz="1700" b="1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Cleaned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7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is</a:t>
            </a:r>
            <a:r>
              <a:rPr sz="17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transformed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into</a:t>
            </a:r>
            <a:r>
              <a:rPr sz="17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7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feature</a:t>
            </a:r>
            <a:r>
              <a:rPr sz="17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vectors.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4"/>
              </a:spcBef>
              <a:buFont typeface="Calibri"/>
              <a:buChar char="-"/>
              <a:tabLst>
                <a:tab pos="240665" algn="l"/>
              </a:tabLst>
            </a:pP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Create</a:t>
            </a:r>
            <a:r>
              <a:rPr sz="1700" b="1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7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Clusters: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Users</a:t>
            </a:r>
            <a:r>
              <a:rPr sz="17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are</a:t>
            </a:r>
            <a:r>
              <a:rPr sz="17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grouped</a:t>
            </a:r>
            <a:r>
              <a:rPr sz="17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into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clusters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based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on</a:t>
            </a:r>
            <a:r>
              <a:rPr sz="17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similarities.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95"/>
              </a:spcBef>
              <a:buFont typeface="Calibri"/>
              <a:buChar char="-"/>
              <a:tabLst>
                <a:tab pos="240665" algn="l"/>
              </a:tabLst>
            </a:pP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Form</a:t>
            </a:r>
            <a:r>
              <a:rPr sz="1700" b="1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7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Groups:</a:t>
            </a:r>
            <a:r>
              <a:rPr sz="1700" b="1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Clusters</a:t>
            </a:r>
            <a:r>
              <a:rPr sz="1700" spc="-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are</a:t>
            </a:r>
            <a:r>
              <a:rPr sz="17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organized</a:t>
            </a:r>
            <a:r>
              <a:rPr sz="17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into</a:t>
            </a:r>
            <a:r>
              <a:rPr sz="17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distinct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groups.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Font typeface="Calibri"/>
              <a:buChar char="-"/>
              <a:tabLst>
                <a:tab pos="240665" algn="l"/>
              </a:tabLst>
            </a:pP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Generate</a:t>
            </a:r>
            <a:r>
              <a:rPr sz="17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Group</a:t>
            </a:r>
            <a:r>
              <a:rPr sz="1700" b="1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Preferences:</a:t>
            </a:r>
            <a:r>
              <a:rPr sz="1700" b="1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Preferences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are</a:t>
            </a:r>
            <a:r>
              <a:rPr sz="17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derived</a:t>
            </a:r>
            <a:r>
              <a:rPr sz="17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each</a:t>
            </a:r>
            <a:r>
              <a:rPr sz="17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700" spc="-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group.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Font typeface="Calibri"/>
              <a:buChar char="-"/>
              <a:tabLst>
                <a:tab pos="240665" algn="l"/>
              </a:tabLst>
            </a:pP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Match</a:t>
            </a:r>
            <a:r>
              <a:rPr sz="17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Items</a:t>
            </a:r>
            <a:r>
              <a:rPr sz="17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to</a:t>
            </a:r>
            <a:r>
              <a:rPr sz="1700" b="1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Groups:</a:t>
            </a:r>
            <a:r>
              <a:rPr sz="17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Items</a:t>
            </a:r>
            <a:r>
              <a:rPr sz="17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are</a:t>
            </a:r>
            <a:r>
              <a:rPr sz="17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matched</a:t>
            </a:r>
            <a:r>
              <a:rPr sz="17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to</a:t>
            </a:r>
            <a:r>
              <a:rPr sz="17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7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preferences</a:t>
            </a:r>
            <a:r>
              <a:rPr sz="17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of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each</a:t>
            </a:r>
            <a:r>
              <a:rPr sz="17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group.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95"/>
              </a:spcBef>
              <a:buFont typeface="Calibri"/>
              <a:buChar char="-"/>
              <a:tabLst>
                <a:tab pos="240665" algn="l"/>
              </a:tabLst>
            </a:pP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Generate</a:t>
            </a:r>
            <a:r>
              <a:rPr sz="17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Recommendations:</a:t>
            </a:r>
            <a:r>
              <a:rPr sz="17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Recommendations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are</a:t>
            </a:r>
            <a:r>
              <a:rPr sz="17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generated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each</a:t>
            </a:r>
            <a:r>
              <a:rPr sz="1700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group.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Font typeface="Calibri"/>
              <a:buChar char="-"/>
              <a:tabLst>
                <a:tab pos="240665" algn="l"/>
              </a:tabLst>
            </a:pP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Final</a:t>
            </a:r>
            <a:r>
              <a:rPr sz="17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Recommendations:</a:t>
            </a:r>
            <a:r>
              <a:rPr sz="17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700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final</a:t>
            </a:r>
            <a:r>
              <a:rPr sz="17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list</a:t>
            </a:r>
            <a:r>
              <a:rPr sz="17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of</a:t>
            </a:r>
            <a:r>
              <a:rPr sz="1700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recommendations</a:t>
            </a:r>
            <a:r>
              <a:rPr sz="17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is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produced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7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users.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1519" y="4784090"/>
            <a:ext cx="1694814" cy="695960"/>
            <a:chOff x="781519" y="4784090"/>
            <a:chExt cx="1694814" cy="6959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8224" y="5092954"/>
              <a:ext cx="168020" cy="762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87869" y="4790440"/>
              <a:ext cx="1520825" cy="683260"/>
            </a:xfrm>
            <a:custGeom>
              <a:avLst/>
              <a:gdLst/>
              <a:ahLst/>
              <a:cxnLst/>
              <a:rect l="l" t="t" r="r" b="b"/>
              <a:pathLst>
                <a:path w="1520825" h="683260">
                  <a:moveTo>
                    <a:pt x="0" y="113918"/>
                  </a:moveTo>
                  <a:lnTo>
                    <a:pt x="8947" y="69597"/>
                  </a:lnTo>
                  <a:lnTo>
                    <a:pt x="33350" y="33385"/>
                  </a:lnTo>
                  <a:lnTo>
                    <a:pt x="69544" y="8959"/>
                  </a:lnTo>
                  <a:lnTo>
                    <a:pt x="113868" y="0"/>
                  </a:lnTo>
                  <a:lnTo>
                    <a:pt x="1406690" y="0"/>
                  </a:lnTo>
                  <a:lnTo>
                    <a:pt x="1450991" y="8959"/>
                  </a:lnTo>
                  <a:lnTo>
                    <a:pt x="1487160" y="33385"/>
                  </a:lnTo>
                  <a:lnTo>
                    <a:pt x="1511542" y="69597"/>
                  </a:lnTo>
                  <a:lnTo>
                    <a:pt x="1520482" y="113918"/>
                  </a:lnTo>
                  <a:lnTo>
                    <a:pt x="1520482" y="569341"/>
                  </a:lnTo>
                  <a:lnTo>
                    <a:pt x="1511542" y="613715"/>
                  </a:lnTo>
                  <a:lnTo>
                    <a:pt x="1487160" y="649922"/>
                  </a:lnTo>
                  <a:lnTo>
                    <a:pt x="1450991" y="674318"/>
                  </a:lnTo>
                  <a:lnTo>
                    <a:pt x="1406690" y="683260"/>
                  </a:lnTo>
                  <a:lnTo>
                    <a:pt x="113868" y="683260"/>
                  </a:lnTo>
                  <a:lnTo>
                    <a:pt x="69544" y="674318"/>
                  </a:lnTo>
                  <a:lnTo>
                    <a:pt x="33350" y="649922"/>
                  </a:lnTo>
                  <a:lnTo>
                    <a:pt x="8947" y="613715"/>
                  </a:lnTo>
                  <a:lnTo>
                    <a:pt x="0" y="569341"/>
                  </a:lnTo>
                  <a:lnTo>
                    <a:pt x="0" y="11391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78788" y="4967985"/>
            <a:ext cx="938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User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6245" y="4788573"/>
            <a:ext cx="1280160" cy="6832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147955" marR="139700" indent="275590">
              <a:lnSpc>
                <a:spcPct val="100000"/>
              </a:lnSpc>
              <a:spcBef>
                <a:spcPts val="415"/>
              </a:spcBef>
            </a:pPr>
            <a:r>
              <a:rPr sz="1800" spc="-20" dirty="0">
                <a:latin typeface="Calibri"/>
                <a:cs typeface="Calibri"/>
              </a:rPr>
              <a:t>Data </a:t>
            </a:r>
            <a:r>
              <a:rPr sz="1800" spc="-10" dirty="0"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8576" y="4790465"/>
            <a:ext cx="1338580" cy="6813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302895" marR="115570" indent="-18034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User </a:t>
            </a:r>
            <a:r>
              <a:rPr sz="1800" spc="-10" dirty="0">
                <a:latin typeface="Calibri"/>
                <a:cs typeface="Calibri"/>
              </a:rPr>
              <a:t>Clusters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24046" y="4788573"/>
            <a:ext cx="1786889" cy="6832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425450" marR="417830" indent="111125">
              <a:lnSpc>
                <a:spcPct val="100000"/>
              </a:lnSpc>
              <a:spcBef>
                <a:spcPts val="415"/>
              </a:spcBef>
            </a:pPr>
            <a:r>
              <a:rPr sz="1800" spc="-10" dirty="0">
                <a:latin typeface="Calibri"/>
                <a:cs typeface="Calibri"/>
              </a:rPr>
              <a:t>Feature Extraction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5693" y="4790478"/>
            <a:ext cx="1945639" cy="6832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424815" marR="216535" indent="-201295">
              <a:lnSpc>
                <a:spcPct val="100000"/>
              </a:lnSpc>
              <a:spcBef>
                <a:spcPts val="415"/>
              </a:spcBef>
            </a:pPr>
            <a:r>
              <a:rPr sz="1800" spc="-10" dirty="0">
                <a:latin typeface="Calibri"/>
                <a:cs typeface="Calibri"/>
              </a:rPr>
              <a:t>Generate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Group </a:t>
            </a:r>
            <a:r>
              <a:rPr sz="1800" spc="-10" dirty="0">
                <a:latin typeface="Calibri"/>
                <a:cs typeface="Calibri"/>
              </a:rPr>
              <a:t>Preferences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35693" y="5675312"/>
            <a:ext cx="1945639" cy="64706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638175" marR="258445" indent="-370840">
              <a:lnSpc>
                <a:spcPct val="100000"/>
              </a:lnSpc>
              <a:spcBef>
                <a:spcPts val="275"/>
              </a:spcBef>
            </a:pPr>
            <a:r>
              <a:rPr sz="1800" dirty="0">
                <a:latin typeface="Calibri"/>
                <a:cs typeface="Calibri"/>
              </a:rPr>
              <a:t>Match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Items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spc="-10" dirty="0">
                <a:latin typeface="Calibri"/>
                <a:cs typeface="Calibri"/>
              </a:rPr>
              <a:t>Groups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37400" y="5664695"/>
            <a:ext cx="1930400" cy="6572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7155" marR="90170" indent="435609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latin typeface="Calibri"/>
                <a:cs typeface="Calibri"/>
              </a:rPr>
              <a:t>Generate Recommendations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52800" y="5665495"/>
            <a:ext cx="3616960" cy="6565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60655" rIns="0" bIns="0" rtlCol="0">
            <a:spAutoFit/>
          </a:bodyPr>
          <a:lstStyle/>
          <a:p>
            <a:pPr marL="541020">
              <a:lnSpc>
                <a:spcPct val="100000"/>
              </a:lnSpc>
              <a:spcBef>
                <a:spcPts val="1265"/>
              </a:spcBef>
            </a:pPr>
            <a:r>
              <a:rPr sz="2000" b="1" dirty="0">
                <a:latin typeface="Calibri"/>
                <a:cs typeface="Calibri"/>
              </a:rPr>
              <a:t>Final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Recommendations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6152" y="5092065"/>
            <a:ext cx="167894" cy="762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0682" y="5092572"/>
            <a:ext cx="167893" cy="762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67800" y="5957582"/>
            <a:ext cx="168148" cy="7616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69506" y="5955372"/>
            <a:ext cx="167894" cy="762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384795" y="4790516"/>
            <a:ext cx="1683385" cy="67437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506095" marR="349885" indent="-147955">
              <a:lnSpc>
                <a:spcPct val="100000"/>
              </a:lnSpc>
              <a:spcBef>
                <a:spcPts val="380"/>
              </a:spcBef>
            </a:pPr>
            <a:r>
              <a:rPr sz="1800" dirty="0">
                <a:latin typeface="Calibri"/>
                <a:cs typeface="Calibri"/>
              </a:rPr>
              <a:t>Form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User </a:t>
            </a:r>
            <a:r>
              <a:rPr sz="1800" spc="-10" dirty="0">
                <a:latin typeface="Calibri"/>
                <a:cs typeface="Calibri"/>
              </a:rPr>
              <a:t>Groups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647" y="5091048"/>
            <a:ext cx="168148" cy="7620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67545" y="5091938"/>
            <a:ext cx="168148" cy="7607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70286" y="5473700"/>
            <a:ext cx="76200" cy="2015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6400"/>
            <a:ext cx="814959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100" dirty="0"/>
              <a:t>Evaluation</a:t>
            </a:r>
            <a:r>
              <a:rPr spc="-30" dirty="0"/>
              <a:t> results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70" dirty="0"/>
              <a:t>clustering-</a:t>
            </a:r>
            <a:r>
              <a:rPr spc="-95" dirty="0"/>
              <a:t>based </a:t>
            </a:r>
            <a:r>
              <a:rPr spc="-125" dirty="0"/>
              <a:t>recommender</a:t>
            </a:r>
            <a:r>
              <a:rPr spc="-50" dirty="0"/>
              <a:t> </a:t>
            </a:r>
            <a:r>
              <a:rPr spc="-10" dirty="0"/>
              <a:t>system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627241" y="2476309"/>
          <a:ext cx="4719954" cy="40119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9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Cluster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1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CB0103EN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PY0101EN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DS0101EN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PY0101EN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DS0101EN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DA0101EN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1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LB0101ENv1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LB0103ENv1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LB0105ENv1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13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BD0101EN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BD0111EN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PY0101EN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1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GPXX0T0FEN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PY0101EN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ML0101ENv3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1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DS0101EN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BD0101EN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CNSC02EN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1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CO0101EN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CO0201EN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CC0101EN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1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BD0111EN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BD0101EN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1C7CDB"/>
                          </a:solidFill>
                          <a:latin typeface="Microsoft Sans Serif"/>
                          <a:cs typeface="Microsoft Sans Serif"/>
                        </a:rPr>
                        <a:t>BD0211EN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33830" y="2481072"/>
            <a:ext cx="5162550" cy="4011929"/>
          </a:xfrm>
          <a:prstGeom prst="rect">
            <a:avLst/>
          </a:prstGeom>
          <a:ln w="9525">
            <a:solidFill>
              <a:srgbClr val="0A48CA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1440" marR="83820" algn="just">
              <a:lnSpc>
                <a:spcPct val="90000"/>
              </a:lnSpc>
              <a:spcBef>
                <a:spcPts val="229"/>
              </a:spcBef>
            </a:pPr>
            <a:r>
              <a:rPr sz="2200" spc="-85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200" spc="-1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1C7CDB"/>
                </a:solidFill>
                <a:latin typeface="Microsoft Sans Serif"/>
                <a:cs typeface="Microsoft Sans Serif"/>
              </a:rPr>
              <a:t>analysis</a:t>
            </a:r>
            <a:r>
              <a:rPr sz="22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of</a:t>
            </a:r>
            <a:r>
              <a:rPr sz="22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1C7CDB"/>
                </a:solidFill>
                <a:latin typeface="Microsoft Sans Serif"/>
                <a:cs typeface="Microsoft Sans Serif"/>
              </a:rPr>
              <a:t>course</a:t>
            </a:r>
            <a:r>
              <a:rPr sz="22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enrollments</a:t>
            </a:r>
            <a:r>
              <a:rPr sz="22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1C7CDB"/>
                </a:solidFill>
                <a:latin typeface="Microsoft Sans Serif"/>
                <a:cs typeface="Microsoft Sans Serif"/>
              </a:rPr>
              <a:t>across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different</a:t>
            </a:r>
            <a:r>
              <a:rPr sz="22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clusters </a:t>
            </a:r>
            <a:r>
              <a:rPr sz="22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reveals</a:t>
            </a:r>
            <a:r>
              <a:rPr sz="2200" spc="-4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distinct</a:t>
            </a:r>
            <a:r>
              <a:rPr sz="2200" spc="-4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patterns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in</a:t>
            </a:r>
            <a:r>
              <a:rPr sz="2200" spc="16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learner</a:t>
            </a:r>
            <a:r>
              <a:rPr sz="2200" spc="17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preferences.</a:t>
            </a:r>
            <a:r>
              <a:rPr sz="2200" spc="16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For</a:t>
            </a:r>
            <a:r>
              <a:rPr sz="2200" spc="16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each</a:t>
            </a:r>
            <a:r>
              <a:rPr sz="2200" spc="16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cluster,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200" spc="48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top</a:t>
            </a:r>
            <a:r>
              <a:rPr sz="2200" spc="48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three</a:t>
            </a:r>
            <a:r>
              <a:rPr sz="2200" spc="49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courses</a:t>
            </a:r>
            <a:r>
              <a:rPr sz="2200" spc="47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with</a:t>
            </a:r>
            <a:r>
              <a:rPr sz="2200" spc="46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200" spc="47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1C7CDB"/>
                </a:solidFill>
                <a:latin typeface="Microsoft Sans Serif"/>
                <a:cs typeface="Microsoft Sans Serif"/>
              </a:rPr>
              <a:t>highest enrollments</a:t>
            </a:r>
            <a:r>
              <a:rPr sz="2200" spc="-10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were</a:t>
            </a:r>
            <a:r>
              <a:rPr sz="2200" spc="-9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identified.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3830" y="1690623"/>
            <a:ext cx="10420350" cy="619760"/>
          </a:xfrm>
          <a:prstGeom prst="rect">
            <a:avLst/>
          </a:prstGeom>
          <a:ln w="9525">
            <a:solidFill>
              <a:srgbClr val="0A48CA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95"/>
              </a:spcBef>
            </a:pPr>
            <a:r>
              <a:rPr sz="1700" spc="-60" dirty="0">
                <a:solidFill>
                  <a:srgbClr val="1C7CDB"/>
                </a:solidFill>
                <a:latin typeface="Microsoft Sans Serif"/>
                <a:cs typeface="Microsoft Sans Serif"/>
              </a:rPr>
              <a:t>Selected</a:t>
            </a:r>
            <a:r>
              <a:rPr sz="1700" spc="-1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1700" spc="75" dirty="0">
                <a:solidFill>
                  <a:srgbClr val="1C7CDB"/>
                </a:solidFill>
                <a:latin typeface="Microsoft Sans Serif"/>
                <a:cs typeface="Microsoft Sans Serif"/>
              </a:rPr>
              <a:t>3</a:t>
            </a:r>
            <a:r>
              <a:rPr sz="17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items</a:t>
            </a:r>
            <a:r>
              <a:rPr sz="1700" spc="-1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1C7CDB"/>
                </a:solidFill>
                <a:latin typeface="Microsoft Sans Serif"/>
                <a:cs typeface="Microsoft Sans Serif"/>
              </a:rPr>
              <a:t>with</a:t>
            </a:r>
            <a:r>
              <a:rPr sz="17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17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highest</a:t>
            </a:r>
            <a:r>
              <a:rPr sz="170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enrollments</a:t>
            </a:r>
            <a:r>
              <a:rPr sz="17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1C7CDB"/>
                </a:solidFill>
                <a:latin typeface="Microsoft Sans Serif"/>
                <a:cs typeface="Microsoft Sans Serif"/>
              </a:rPr>
              <a:t>for</a:t>
            </a:r>
            <a:r>
              <a:rPr sz="17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1700" spc="-70" dirty="0">
                <a:solidFill>
                  <a:srgbClr val="1C7CDB"/>
                </a:solidFill>
                <a:latin typeface="Microsoft Sans Serif"/>
                <a:cs typeface="Microsoft Sans Serif"/>
              </a:rPr>
              <a:t>each</a:t>
            </a:r>
            <a:r>
              <a:rPr sz="17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cluster</a:t>
            </a:r>
            <a:endParaRPr sz="1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4" y="1898091"/>
            <a:ext cx="9172575" cy="258381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>
              <a:lnSpc>
                <a:spcPct val="89900"/>
              </a:lnSpc>
              <a:spcBef>
                <a:spcPts val="830"/>
              </a:spcBef>
            </a:pPr>
            <a:r>
              <a:rPr sz="6000" spc="-135" dirty="0">
                <a:solidFill>
                  <a:srgbClr val="292929"/>
                </a:solidFill>
              </a:rPr>
              <a:t>Collaborative-</a:t>
            </a:r>
            <a:r>
              <a:rPr sz="6000" spc="-10" dirty="0">
                <a:solidFill>
                  <a:srgbClr val="292929"/>
                </a:solidFill>
              </a:rPr>
              <a:t>filtering </a:t>
            </a:r>
            <a:r>
              <a:rPr sz="6000" spc="-280" dirty="0">
                <a:solidFill>
                  <a:srgbClr val="292929"/>
                </a:solidFill>
              </a:rPr>
              <a:t>Recommender</a:t>
            </a:r>
            <a:r>
              <a:rPr sz="6000" spc="229" dirty="0">
                <a:solidFill>
                  <a:srgbClr val="292929"/>
                </a:solidFill>
              </a:rPr>
              <a:t> </a:t>
            </a:r>
            <a:r>
              <a:rPr sz="6000" spc="-335" dirty="0">
                <a:solidFill>
                  <a:srgbClr val="292929"/>
                </a:solidFill>
              </a:rPr>
              <a:t>System</a:t>
            </a:r>
            <a:r>
              <a:rPr sz="6000" spc="235" dirty="0">
                <a:solidFill>
                  <a:srgbClr val="292929"/>
                </a:solidFill>
              </a:rPr>
              <a:t> </a:t>
            </a:r>
            <a:r>
              <a:rPr sz="6000" spc="-75" dirty="0">
                <a:solidFill>
                  <a:srgbClr val="292929"/>
                </a:solidFill>
              </a:rPr>
              <a:t>using </a:t>
            </a:r>
            <a:r>
              <a:rPr sz="6000" spc="-170" dirty="0">
                <a:solidFill>
                  <a:srgbClr val="292929"/>
                </a:solidFill>
              </a:rPr>
              <a:t>Supervised</a:t>
            </a:r>
            <a:r>
              <a:rPr sz="6000" spc="-190" dirty="0">
                <a:solidFill>
                  <a:srgbClr val="292929"/>
                </a:solidFill>
              </a:rPr>
              <a:t> </a:t>
            </a:r>
            <a:r>
              <a:rPr sz="6000" spc="-10" dirty="0">
                <a:solidFill>
                  <a:srgbClr val="292929"/>
                </a:solidFill>
              </a:rPr>
              <a:t>Learning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8570" y="5432424"/>
            <a:ext cx="1464336" cy="14191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6400"/>
            <a:ext cx="100412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Flowchart</a:t>
            </a:r>
            <a:r>
              <a:rPr spc="-10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310" dirty="0"/>
              <a:t>KNN</a:t>
            </a:r>
            <a:r>
              <a:rPr spc="45" dirty="0"/>
              <a:t> </a:t>
            </a:r>
            <a:r>
              <a:rPr spc="-90" dirty="0"/>
              <a:t>based</a:t>
            </a:r>
            <a:r>
              <a:rPr spc="-35" dirty="0"/>
              <a:t> </a:t>
            </a:r>
            <a:r>
              <a:rPr spc="-120" dirty="0"/>
              <a:t>recommender</a:t>
            </a:r>
            <a:r>
              <a:rPr spc="-40" dirty="0"/>
              <a:t> </a:t>
            </a:r>
            <a:r>
              <a:rPr spc="-75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5662" y="1792223"/>
            <a:ext cx="10515600" cy="2268220"/>
          </a:xfrm>
          <a:prstGeom prst="rect">
            <a:avLst/>
          </a:prstGeom>
          <a:ln w="9525">
            <a:solidFill>
              <a:srgbClr val="0A48C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7010" indent="-115570">
              <a:lnSpc>
                <a:spcPts val="1775"/>
              </a:lnSpc>
              <a:buFont typeface="Calibri"/>
              <a:buChar char="-"/>
              <a:tabLst>
                <a:tab pos="207010" algn="l"/>
              </a:tabLst>
            </a:pP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700" b="1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Enrollment</a:t>
            </a:r>
            <a:r>
              <a:rPr sz="17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Data:</a:t>
            </a:r>
            <a:r>
              <a:rPr sz="17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Begins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with</a:t>
            </a:r>
            <a:r>
              <a:rPr sz="17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raw</a:t>
            </a:r>
            <a:r>
              <a:rPr sz="17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enrollment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data.</a:t>
            </a:r>
            <a:endParaRPr sz="1700">
              <a:latin typeface="Calibri"/>
              <a:cs typeface="Calibri"/>
            </a:endParaRPr>
          </a:p>
          <a:p>
            <a:pPr marL="207010" indent="-115570">
              <a:lnSpc>
                <a:spcPct val="100000"/>
              </a:lnSpc>
              <a:spcBef>
                <a:spcPts val="395"/>
              </a:spcBef>
              <a:buFont typeface="Calibri"/>
              <a:buChar char="-"/>
              <a:tabLst>
                <a:tab pos="207010" algn="l"/>
              </a:tabLst>
            </a:pP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Create</a:t>
            </a:r>
            <a:r>
              <a:rPr sz="1700" b="1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7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spc="-20" dirty="0">
                <a:solidFill>
                  <a:srgbClr val="1C7CDB"/>
                </a:solidFill>
                <a:latin typeface="Calibri"/>
                <a:cs typeface="Calibri"/>
              </a:rPr>
              <a:t>Vectors:</a:t>
            </a:r>
            <a:r>
              <a:rPr sz="1700" b="1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7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7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is</a:t>
            </a:r>
            <a:r>
              <a:rPr sz="17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transformed</a:t>
            </a:r>
            <a:r>
              <a:rPr sz="17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into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feature</a:t>
            </a:r>
            <a:r>
              <a:rPr sz="17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vectors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7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analysis.</a:t>
            </a:r>
            <a:endParaRPr sz="1700">
              <a:latin typeface="Calibri"/>
              <a:cs typeface="Calibri"/>
            </a:endParaRPr>
          </a:p>
          <a:p>
            <a:pPr marL="207010" indent="-115570">
              <a:lnSpc>
                <a:spcPct val="100000"/>
              </a:lnSpc>
              <a:spcBef>
                <a:spcPts val="384"/>
              </a:spcBef>
              <a:buFont typeface="Calibri"/>
              <a:buChar char="-"/>
              <a:tabLst>
                <a:tab pos="207010" algn="l"/>
              </a:tabLst>
            </a:pP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Calculate</a:t>
            </a:r>
            <a:r>
              <a:rPr sz="17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7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Similarity:</a:t>
            </a:r>
            <a:r>
              <a:rPr sz="17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Similarity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between</a:t>
            </a:r>
            <a:r>
              <a:rPr sz="1700" spc="-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users</a:t>
            </a:r>
            <a:r>
              <a:rPr sz="1700" spc="-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is</a:t>
            </a:r>
            <a:r>
              <a:rPr sz="17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computed</a:t>
            </a:r>
            <a:r>
              <a:rPr sz="17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based</a:t>
            </a:r>
            <a:r>
              <a:rPr sz="17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on</a:t>
            </a:r>
            <a:r>
              <a:rPr sz="17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their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feature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vectors.</a:t>
            </a:r>
            <a:endParaRPr sz="1700">
              <a:latin typeface="Calibri"/>
              <a:cs typeface="Calibri"/>
            </a:endParaRPr>
          </a:p>
          <a:p>
            <a:pPr marL="207010" indent="-115570">
              <a:lnSpc>
                <a:spcPct val="100000"/>
              </a:lnSpc>
              <a:spcBef>
                <a:spcPts val="380"/>
              </a:spcBef>
              <a:buFont typeface="Calibri"/>
              <a:buChar char="-"/>
              <a:tabLst>
                <a:tab pos="207010" algn="l"/>
              </a:tabLst>
            </a:pP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Find</a:t>
            </a:r>
            <a:r>
              <a:rPr sz="1700" b="1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K</a:t>
            </a:r>
            <a:r>
              <a:rPr sz="1700" b="1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Nearest</a:t>
            </a:r>
            <a:r>
              <a:rPr sz="17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Neighbors:</a:t>
            </a:r>
            <a:r>
              <a:rPr sz="17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Identifies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7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most</a:t>
            </a:r>
            <a:r>
              <a:rPr sz="17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similar</a:t>
            </a:r>
            <a:r>
              <a:rPr sz="17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users</a:t>
            </a:r>
            <a:r>
              <a:rPr sz="17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(neighbors)</a:t>
            </a:r>
            <a:r>
              <a:rPr sz="1700" spc="-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7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each</a:t>
            </a:r>
            <a:r>
              <a:rPr sz="17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user.</a:t>
            </a:r>
            <a:endParaRPr sz="1700">
              <a:latin typeface="Calibri"/>
              <a:cs typeface="Calibri"/>
            </a:endParaRPr>
          </a:p>
          <a:p>
            <a:pPr marL="207010" indent="-115570">
              <a:lnSpc>
                <a:spcPct val="100000"/>
              </a:lnSpc>
              <a:spcBef>
                <a:spcPts val="400"/>
              </a:spcBef>
              <a:buFont typeface="Calibri"/>
              <a:buChar char="-"/>
              <a:tabLst>
                <a:tab pos="207010" algn="l"/>
              </a:tabLst>
            </a:pP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Collect</a:t>
            </a:r>
            <a:r>
              <a:rPr sz="17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Neighbor</a:t>
            </a:r>
            <a:r>
              <a:rPr sz="17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Courses:</a:t>
            </a:r>
            <a:r>
              <a:rPr sz="1700" b="1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Gathers</a:t>
            </a:r>
            <a:r>
              <a:rPr sz="17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courses</a:t>
            </a:r>
            <a:r>
              <a:rPr sz="17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enrolled</a:t>
            </a:r>
            <a:r>
              <a:rPr sz="1700" spc="-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in</a:t>
            </a:r>
            <a:r>
              <a:rPr sz="17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by</a:t>
            </a:r>
            <a:r>
              <a:rPr sz="17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7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nearest</a:t>
            </a:r>
            <a:r>
              <a:rPr sz="17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neighbors.</a:t>
            </a:r>
            <a:endParaRPr sz="1700">
              <a:latin typeface="Calibri"/>
              <a:cs typeface="Calibri"/>
            </a:endParaRPr>
          </a:p>
          <a:p>
            <a:pPr marL="207010" indent="-115570">
              <a:lnSpc>
                <a:spcPct val="100000"/>
              </a:lnSpc>
              <a:spcBef>
                <a:spcPts val="385"/>
              </a:spcBef>
              <a:buFont typeface="Calibri"/>
              <a:buChar char="-"/>
              <a:tabLst>
                <a:tab pos="207010" algn="l"/>
              </a:tabLst>
            </a:pP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Rank</a:t>
            </a:r>
            <a:r>
              <a:rPr sz="17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Courses:</a:t>
            </a:r>
            <a:r>
              <a:rPr sz="17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Ranks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7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collected</a:t>
            </a:r>
            <a:r>
              <a:rPr sz="17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courses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based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on</a:t>
            </a:r>
            <a:r>
              <a:rPr sz="17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relevance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7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popularity.</a:t>
            </a:r>
            <a:endParaRPr sz="1700">
              <a:latin typeface="Calibri"/>
              <a:cs typeface="Calibri"/>
            </a:endParaRPr>
          </a:p>
          <a:p>
            <a:pPr marL="207010" indent="-115570">
              <a:lnSpc>
                <a:spcPct val="100000"/>
              </a:lnSpc>
              <a:spcBef>
                <a:spcPts val="355"/>
              </a:spcBef>
              <a:buFont typeface="Calibri"/>
              <a:buChar char="-"/>
              <a:tabLst>
                <a:tab pos="207010" algn="l"/>
              </a:tabLst>
            </a:pPr>
            <a:r>
              <a:rPr sz="1700" b="1" dirty="0">
                <a:solidFill>
                  <a:srgbClr val="1C7CDB"/>
                </a:solidFill>
                <a:latin typeface="Calibri"/>
                <a:cs typeface="Calibri"/>
              </a:rPr>
              <a:t>Final</a:t>
            </a:r>
            <a:r>
              <a:rPr sz="17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C7CDB"/>
                </a:solidFill>
                <a:latin typeface="Calibri"/>
                <a:cs typeface="Calibri"/>
              </a:rPr>
              <a:t>Recommendations:</a:t>
            </a:r>
            <a:r>
              <a:rPr sz="1700" b="1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Produces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7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final</a:t>
            </a:r>
            <a:r>
              <a:rPr sz="17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list</a:t>
            </a:r>
            <a:r>
              <a:rPr sz="17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of</a:t>
            </a:r>
            <a:r>
              <a:rPr sz="1700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personalized</a:t>
            </a:r>
            <a:r>
              <a:rPr sz="17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course</a:t>
            </a:r>
            <a:r>
              <a:rPr sz="17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C7CDB"/>
                </a:solidFill>
                <a:latin typeface="Calibri"/>
                <a:cs typeface="Calibri"/>
              </a:rPr>
              <a:t>recommendations</a:t>
            </a:r>
            <a:r>
              <a:rPr sz="17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700" spc="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7CDB"/>
                </a:solidFill>
                <a:latin typeface="Calibri"/>
                <a:cs typeface="Calibri"/>
              </a:rPr>
              <a:t>users.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80717" y="4784090"/>
            <a:ext cx="1694814" cy="695960"/>
            <a:chOff x="1680717" y="4784090"/>
            <a:chExt cx="1694814" cy="6959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7384" y="5092954"/>
              <a:ext cx="168020" cy="762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87067" y="4790440"/>
              <a:ext cx="1520825" cy="683260"/>
            </a:xfrm>
            <a:custGeom>
              <a:avLst/>
              <a:gdLst/>
              <a:ahLst/>
              <a:cxnLst/>
              <a:rect l="l" t="t" r="r" b="b"/>
              <a:pathLst>
                <a:path w="1520825" h="683260">
                  <a:moveTo>
                    <a:pt x="0" y="113918"/>
                  </a:moveTo>
                  <a:lnTo>
                    <a:pt x="8939" y="69597"/>
                  </a:lnTo>
                  <a:lnTo>
                    <a:pt x="33321" y="33385"/>
                  </a:lnTo>
                  <a:lnTo>
                    <a:pt x="69490" y="8959"/>
                  </a:lnTo>
                  <a:lnTo>
                    <a:pt x="113792" y="0"/>
                  </a:lnTo>
                  <a:lnTo>
                    <a:pt x="1406652" y="0"/>
                  </a:lnTo>
                  <a:lnTo>
                    <a:pt x="1450953" y="8959"/>
                  </a:lnTo>
                  <a:lnTo>
                    <a:pt x="1487122" y="33385"/>
                  </a:lnTo>
                  <a:lnTo>
                    <a:pt x="1511504" y="69597"/>
                  </a:lnTo>
                  <a:lnTo>
                    <a:pt x="1520444" y="113918"/>
                  </a:lnTo>
                  <a:lnTo>
                    <a:pt x="1520444" y="569341"/>
                  </a:lnTo>
                  <a:lnTo>
                    <a:pt x="1511504" y="613715"/>
                  </a:lnTo>
                  <a:lnTo>
                    <a:pt x="1487122" y="649922"/>
                  </a:lnTo>
                  <a:lnTo>
                    <a:pt x="1450953" y="674318"/>
                  </a:lnTo>
                  <a:lnTo>
                    <a:pt x="1406652" y="683260"/>
                  </a:lnTo>
                  <a:lnTo>
                    <a:pt x="113792" y="683260"/>
                  </a:lnTo>
                  <a:lnTo>
                    <a:pt x="69490" y="674318"/>
                  </a:lnTo>
                  <a:lnTo>
                    <a:pt x="33321" y="649922"/>
                  </a:lnTo>
                  <a:lnTo>
                    <a:pt x="8939" y="613715"/>
                  </a:lnTo>
                  <a:lnTo>
                    <a:pt x="0" y="569341"/>
                  </a:lnTo>
                  <a:lnTo>
                    <a:pt x="0" y="11391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78279" y="4967985"/>
            <a:ext cx="938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User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5405" y="4788573"/>
            <a:ext cx="1280160" cy="6832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295910" marR="85725" indent="-201295">
              <a:lnSpc>
                <a:spcPct val="100000"/>
              </a:lnSpc>
              <a:spcBef>
                <a:spcPts val="415"/>
              </a:spcBef>
            </a:pP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User </a:t>
            </a:r>
            <a:r>
              <a:rPr sz="1800" spc="-10" dirty="0">
                <a:latin typeface="Calibri"/>
                <a:cs typeface="Calibri"/>
              </a:rPr>
              <a:t>Vectors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77735" y="4790465"/>
            <a:ext cx="1786889" cy="6813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420370" marR="211454" indent="-200025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Nearest Neighbors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3205" y="4788573"/>
            <a:ext cx="1786889" cy="6832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461009" marR="219075" indent="-233679">
              <a:lnSpc>
                <a:spcPct val="100000"/>
              </a:lnSpc>
              <a:spcBef>
                <a:spcPts val="415"/>
              </a:spcBef>
            </a:pPr>
            <a:r>
              <a:rPr sz="1800" dirty="0">
                <a:latin typeface="Calibri"/>
                <a:cs typeface="Calibri"/>
              </a:rPr>
              <a:t>Calculate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User </a:t>
            </a:r>
            <a:r>
              <a:rPr sz="1800" spc="-10" dirty="0">
                <a:latin typeface="Calibri"/>
                <a:cs typeface="Calibri"/>
              </a:rPr>
              <a:t>Similarity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32393" y="5664695"/>
            <a:ext cx="1786889" cy="6572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1395"/>
              </a:spcBef>
            </a:pPr>
            <a:r>
              <a:rPr sz="1800" dirty="0">
                <a:latin typeface="Calibri"/>
                <a:cs typeface="Calibri"/>
              </a:rPr>
              <a:t>Rank </a:t>
            </a:r>
            <a:r>
              <a:rPr sz="1800" spc="-10" dirty="0">
                <a:latin typeface="Calibri"/>
                <a:cs typeface="Calibri"/>
              </a:rPr>
              <a:t>Courses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47792" y="5664682"/>
            <a:ext cx="3616960" cy="6565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60655" rIns="0" bIns="0" rtlCol="0">
            <a:spAutoFit/>
          </a:bodyPr>
          <a:lstStyle/>
          <a:p>
            <a:pPr marL="541655">
              <a:lnSpc>
                <a:spcPct val="100000"/>
              </a:lnSpc>
              <a:spcBef>
                <a:spcPts val="1265"/>
              </a:spcBef>
            </a:pPr>
            <a:r>
              <a:rPr sz="2000" b="1" dirty="0">
                <a:latin typeface="Calibri"/>
                <a:cs typeface="Calibri"/>
              </a:rPr>
              <a:t>Final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Recommendations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5311" y="5092065"/>
            <a:ext cx="167893" cy="762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9842" y="5092572"/>
            <a:ext cx="167893" cy="762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64498" y="5954941"/>
            <a:ext cx="167894" cy="762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732393" y="4788611"/>
            <a:ext cx="1786889" cy="67437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80"/>
              </a:spcBef>
            </a:pPr>
            <a:r>
              <a:rPr sz="1800" dirty="0">
                <a:latin typeface="Calibri"/>
                <a:cs typeface="Calibri"/>
              </a:rPr>
              <a:t>Collect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Neighbor</a:t>
            </a:r>
            <a:endParaRPr sz="18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Courses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64244" y="5090033"/>
            <a:ext cx="168148" cy="7607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7610" y="5462523"/>
            <a:ext cx="76200" cy="2021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6400"/>
            <a:ext cx="100844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Flowchart</a:t>
            </a:r>
            <a:r>
              <a:rPr spc="-8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290" dirty="0"/>
              <a:t>NMF</a:t>
            </a:r>
            <a:r>
              <a:rPr spc="25" dirty="0"/>
              <a:t> </a:t>
            </a:r>
            <a:r>
              <a:rPr spc="-90" dirty="0"/>
              <a:t>based</a:t>
            </a:r>
            <a:r>
              <a:rPr spc="-25" dirty="0"/>
              <a:t> </a:t>
            </a:r>
            <a:r>
              <a:rPr spc="-110" dirty="0"/>
              <a:t>recommender</a:t>
            </a:r>
            <a:r>
              <a:rPr spc="-40" dirty="0"/>
              <a:t> </a:t>
            </a:r>
            <a:r>
              <a:rPr spc="-90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855662" y="1356360"/>
            <a:ext cx="10182860" cy="3046730"/>
          </a:xfrm>
          <a:custGeom>
            <a:avLst/>
            <a:gdLst/>
            <a:ahLst/>
            <a:cxnLst/>
            <a:rect l="l" t="t" r="r" b="b"/>
            <a:pathLst>
              <a:path w="10182860" h="3046729">
                <a:moveTo>
                  <a:pt x="0" y="3046730"/>
                </a:moveTo>
                <a:lnTo>
                  <a:pt x="10182733" y="3046730"/>
                </a:lnTo>
                <a:lnTo>
                  <a:pt x="10182733" y="0"/>
                </a:lnTo>
                <a:lnTo>
                  <a:pt x="0" y="0"/>
                </a:lnTo>
                <a:lnTo>
                  <a:pt x="0" y="3046730"/>
                </a:lnTo>
                <a:close/>
              </a:path>
            </a:pathLst>
          </a:custGeom>
          <a:ln w="9525">
            <a:solidFill>
              <a:srgbClr val="0A48C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4618" y="1261008"/>
            <a:ext cx="9208770" cy="30880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0650" indent="-107950">
              <a:lnSpc>
                <a:spcPct val="100000"/>
              </a:lnSpc>
              <a:spcBef>
                <a:spcPts val="520"/>
              </a:spcBef>
              <a:buChar char="-"/>
              <a:tabLst>
                <a:tab pos="120650" algn="l"/>
              </a:tabLst>
            </a:pP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User-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600" b="1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Matrix:</a:t>
            </a:r>
            <a:r>
              <a:rPr sz="1600" b="1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Begins</a:t>
            </a:r>
            <a:r>
              <a:rPr sz="16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with</a:t>
            </a:r>
            <a:r>
              <a:rPr sz="16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raw</a:t>
            </a:r>
            <a:r>
              <a:rPr sz="16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user-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6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interaction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420"/>
              </a:spcBef>
              <a:buChar char="-"/>
              <a:tabLst>
                <a:tab pos="120650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6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Preprocessing:</a:t>
            </a:r>
            <a:r>
              <a:rPr sz="1600" b="1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data</a:t>
            </a:r>
            <a:r>
              <a:rPr sz="16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is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cleaned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prepared</a:t>
            </a:r>
            <a:r>
              <a:rPr sz="16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6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analysis.</a:t>
            </a:r>
            <a:endParaRPr sz="16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430"/>
              </a:spcBef>
              <a:buChar char="-"/>
              <a:tabLst>
                <a:tab pos="120650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Matrix</a:t>
            </a:r>
            <a:r>
              <a:rPr sz="16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Normalization:</a:t>
            </a:r>
            <a:r>
              <a:rPr sz="16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Normalizes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user-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matrix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to</a:t>
            </a:r>
            <a:r>
              <a:rPr sz="16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ensure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 consistent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scaling.</a:t>
            </a:r>
            <a:endParaRPr sz="16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425"/>
              </a:spcBef>
              <a:buChar char="-"/>
              <a:tabLst>
                <a:tab pos="120650" algn="l"/>
              </a:tabLst>
            </a:pP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Non-negative</a:t>
            </a:r>
            <a:r>
              <a:rPr sz="1600" b="1" spc="-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Matrix</a:t>
            </a:r>
            <a:r>
              <a:rPr sz="16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Factorization</a:t>
            </a:r>
            <a:r>
              <a:rPr sz="1600" b="1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(NMF):</a:t>
            </a:r>
            <a:r>
              <a:rPr sz="1600" b="1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Decomposes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normalized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matrix</a:t>
            </a:r>
            <a:r>
              <a:rPr sz="1600" spc="-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into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two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latent</a:t>
            </a:r>
            <a:r>
              <a:rPr sz="1600" spc="-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factor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matrices.</a:t>
            </a:r>
            <a:endParaRPr sz="1600">
              <a:latin typeface="Calibri"/>
              <a:cs typeface="Calibri"/>
            </a:endParaRPr>
          </a:p>
          <a:p>
            <a:pPr marL="549910" lvl="1" indent="-80645">
              <a:lnSpc>
                <a:spcPct val="100000"/>
              </a:lnSpc>
              <a:spcBef>
                <a:spcPts val="75"/>
              </a:spcBef>
              <a:buChar char="-"/>
              <a:tabLst>
                <a:tab pos="549910" algn="l"/>
              </a:tabLst>
            </a:pPr>
            <a:r>
              <a:rPr sz="1200" b="1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200" b="1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C7CDB"/>
                </a:solidFill>
                <a:latin typeface="Calibri"/>
                <a:cs typeface="Calibri"/>
              </a:rPr>
              <a:t>Matrix</a:t>
            </a:r>
            <a:r>
              <a:rPr sz="12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C7CDB"/>
                </a:solidFill>
                <a:latin typeface="Calibri"/>
                <a:cs typeface="Calibri"/>
              </a:rPr>
              <a:t>W:</a:t>
            </a:r>
            <a:r>
              <a:rPr sz="1200" b="1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C7CDB"/>
                </a:solidFill>
                <a:latin typeface="Calibri"/>
                <a:cs typeface="Calibri"/>
              </a:rPr>
              <a:t>Represents</a:t>
            </a:r>
            <a:r>
              <a:rPr sz="12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2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C7CDB"/>
                </a:solidFill>
                <a:latin typeface="Calibri"/>
                <a:cs typeface="Calibri"/>
              </a:rPr>
              <a:t>latent</a:t>
            </a:r>
            <a:r>
              <a:rPr sz="12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C7CDB"/>
                </a:solidFill>
                <a:latin typeface="Calibri"/>
                <a:cs typeface="Calibri"/>
              </a:rPr>
              <a:t>features.</a:t>
            </a:r>
            <a:endParaRPr sz="1200">
              <a:latin typeface="Calibri"/>
              <a:cs typeface="Calibri"/>
            </a:endParaRPr>
          </a:p>
          <a:p>
            <a:pPr marL="549910" lvl="1" indent="-80645">
              <a:lnSpc>
                <a:spcPct val="100000"/>
              </a:lnSpc>
              <a:spcBef>
                <a:spcPts val="60"/>
              </a:spcBef>
              <a:buChar char="-"/>
              <a:tabLst>
                <a:tab pos="549910" algn="l"/>
              </a:tabLst>
            </a:pPr>
            <a:r>
              <a:rPr sz="1200" b="1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2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C7CDB"/>
                </a:solidFill>
                <a:latin typeface="Calibri"/>
                <a:cs typeface="Calibri"/>
              </a:rPr>
              <a:t>Matrix</a:t>
            </a:r>
            <a:r>
              <a:rPr sz="12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C7CDB"/>
                </a:solidFill>
                <a:latin typeface="Calibri"/>
                <a:cs typeface="Calibri"/>
              </a:rPr>
              <a:t>H:</a:t>
            </a:r>
            <a:r>
              <a:rPr sz="1200" b="1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C7CDB"/>
                </a:solidFill>
                <a:latin typeface="Calibri"/>
                <a:cs typeface="Calibri"/>
              </a:rPr>
              <a:t>Represents</a:t>
            </a:r>
            <a:r>
              <a:rPr sz="12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2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C7CDB"/>
                </a:solidFill>
                <a:latin typeface="Calibri"/>
                <a:cs typeface="Calibri"/>
              </a:rPr>
              <a:t>latent</a:t>
            </a:r>
            <a:r>
              <a:rPr sz="12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C7CDB"/>
                </a:solidFill>
                <a:latin typeface="Calibri"/>
                <a:cs typeface="Calibri"/>
              </a:rPr>
              <a:t>features.</a:t>
            </a:r>
            <a:endParaRPr sz="12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430"/>
              </a:spcBef>
              <a:buChar char="-"/>
              <a:tabLst>
                <a:tab pos="120650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600" b="1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Latent</a:t>
            </a:r>
            <a:r>
              <a:rPr sz="1600" b="1" spc="-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Features:</a:t>
            </a:r>
            <a:r>
              <a:rPr sz="1600" b="1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Extracts</a:t>
            </a:r>
            <a:r>
              <a:rPr sz="16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latent</a:t>
            </a:r>
            <a:r>
              <a:rPr sz="1600" spc="-8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features</a:t>
            </a:r>
            <a:r>
              <a:rPr sz="16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6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users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from</a:t>
            </a:r>
            <a:r>
              <a:rPr sz="16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matrix</a:t>
            </a:r>
            <a:r>
              <a:rPr sz="1600" spc="-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W.</a:t>
            </a:r>
            <a:endParaRPr sz="16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420"/>
              </a:spcBef>
              <a:buChar char="-"/>
              <a:tabLst>
                <a:tab pos="120650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6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Latent</a:t>
            </a:r>
            <a:r>
              <a:rPr sz="1600" b="1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Features:</a:t>
            </a:r>
            <a:r>
              <a:rPr sz="1600" b="1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Extracts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latent</a:t>
            </a:r>
            <a:r>
              <a:rPr sz="1600" spc="-7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features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6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items</a:t>
            </a:r>
            <a:r>
              <a:rPr sz="16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from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matrix</a:t>
            </a:r>
            <a:r>
              <a:rPr sz="1600" spc="-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H.</a:t>
            </a:r>
            <a:endParaRPr sz="16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420"/>
              </a:spcBef>
              <a:buChar char="-"/>
              <a:tabLst>
                <a:tab pos="120650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Matrix</a:t>
            </a:r>
            <a:r>
              <a:rPr sz="16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Multiplication:</a:t>
            </a:r>
            <a:r>
              <a:rPr sz="16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Combines</a:t>
            </a:r>
            <a:r>
              <a:rPr sz="16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6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6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latent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features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to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reconstruct</a:t>
            </a:r>
            <a:r>
              <a:rPr sz="1600" spc="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user-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matrix.</a:t>
            </a:r>
            <a:endParaRPr sz="16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430"/>
              </a:spcBef>
              <a:buChar char="-"/>
              <a:tabLst>
                <a:tab pos="120650" algn="l"/>
              </a:tabLst>
            </a:pP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Reconstructed</a:t>
            </a:r>
            <a:r>
              <a:rPr sz="1600" b="1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Matrix: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Generates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refined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user-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6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interaction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matrix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with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predicted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preferences.</a:t>
            </a:r>
            <a:endParaRPr sz="16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420"/>
              </a:spcBef>
              <a:buChar char="-"/>
              <a:tabLst>
                <a:tab pos="120650" algn="l"/>
              </a:tabLst>
            </a:pPr>
            <a:r>
              <a:rPr sz="1600" b="1" spc="-50" dirty="0">
                <a:solidFill>
                  <a:srgbClr val="1C7CDB"/>
                </a:solidFill>
                <a:latin typeface="Calibri"/>
                <a:cs typeface="Calibri"/>
              </a:rPr>
              <a:t>Top-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N</a:t>
            </a:r>
            <a:r>
              <a:rPr sz="1600" b="1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Recommendations: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Produces</a:t>
            </a:r>
            <a:r>
              <a:rPr sz="1600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final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list</a:t>
            </a:r>
            <a:r>
              <a:rPr sz="16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of</a:t>
            </a:r>
            <a:r>
              <a:rPr sz="1600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top-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N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 personalized</a:t>
            </a:r>
            <a:r>
              <a:rPr sz="16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recommendations</a:t>
            </a:r>
            <a:r>
              <a:rPr sz="1600" spc="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6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users.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7738" y="5850610"/>
            <a:ext cx="1527810" cy="656590"/>
          </a:xfrm>
          <a:custGeom>
            <a:avLst/>
            <a:gdLst/>
            <a:ahLst/>
            <a:cxnLst/>
            <a:rect l="l" t="t" r="r" b="b"/>
            <a:pathLst>
              <a:path w="1527810" h="656590">
                <a:moveTo>
                  <a:pt x="0" y="109385"/>
                </a:moveTo>
                <a:lnTo>
                  <a:pt x="8597" y="66806"/>
                </a:lnTo>
                <a:lnTo>
                  <a:pt x="32043" y="32037"/>
                </a:lnTo>
                <a:lnTo>
                  <a:pt x="66817" y="8595"/>
                </a:lnTo>
                <a:lnTo>
                  <a:pt x="109397" y="0"/>
                </a:lnTo>
                <a:lnTo>
                  <a:pt x="1417853" y="0"/>
                </a:lnTo>
                <a:lnTo>
                  <a:pt x="1460461" y="8595"/>
                </a:lnTo>
                <a:lnTo>
                  <a:pt x="1495259" y="32037"/>
                </a:lnTo>
                <a:lnTo>
                  <a:pt x="1518723" y="66806"/>
                </a:lnTo>
                <a:lnTo>
                  <a:pt x="1527327" y="109385"/>
                </a:lnTo>
                <a:lnTo>
                  <a:pt x="1527327" y="546938"/>
                </a:lnTo>
                <a:lnTo>
                  <a:pt x="1518723" y="589516"/>
                </a:lnTo>
                <a:lnTo>
                  <a:pt x="1495259" y="624285"/>
                </a:lnTo>
                <a:lnTo>
                  <a:pt x="1460461" y="647727"/>
                </a:lnTo>
                <a:lnTo>
                  <a:pt x="1417853" y="656323"/>
                </a:lnTo>
                <a:lnTo>
                  <a:pt x="109397" y="656323"/>
                </a:lnTo>
                <a:lnTo>
                  <a:pt x="66817" y="647727"/>
                </a:lnTo>
                <a:lnTo>
                  <a:pt x="32043" y="624285"/>
                </a:lnTo>
                <a:lnTo>
                  <a:pt x="8597" y="589516"/>
                </a:lnTo>
                <a:lnTo>
                  <a:pt x="0" y="546938"/>
                </a:lnTo>
                <a:lnTo>
                  <a:pt x="0" y="1093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4377" y="5877864"/>
            <a:ext cx="953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20" marR="5715" indent="-1600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User-</a:t>
            </a:r>
            <a:r>
              <a:rPr sz="1800" spc="-20" dirty="0">
                <a:latin typeface="Calibri"/>
                <a:cs typeface="Calibri"/>
              </a:rPr>
              <a:t>Item </a:t>
            </a:r>
            <a:r>
              <a:rPr sz="1800" spc="-10" dirty="0">
                <a:latin typeface="Calibri"/>
                <a:cs typeface="Calibri"/>
              </a:rPr>
              <a:t>Matrix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7738" y="4662170"/>
            <a:ext cx="1527810" cy="93154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90"/>
              </a:spcBef>
            </a:pP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Preprocessing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02253" y="4660556"/>
            <a:ext cx="1527810" cy="93281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37795" marR="131445" algn="ctr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latin typeface="Calibri"/>
                <a:cs typeface="Calibri"/>
              </a:rPr>
              <a:t>Non-negative Matrix Factorization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9945" y="4662170"/>
            <a:ext cx="1527810" cy="93281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 marL="108585" marR="102235" indent="348615">
              <a:lnSpc>
                <a:spcPct val="100000"/>
              </a:lnSpc>
              <a:spcBef>
                <a:spcPts val="1400"/>
              </a:spcBef>
            </a:pPr>
            <a:r>
              <a:rPr sz="1800" spc="-10" dirty="0">
                <a:latin typeface="Calibri"/>
                <a:cs typeface="Calibri"/>
              </a:rPr>
              <a:t>Matrix Normalization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22442" y="4654169"/>
            <a:ext cx="4061460" cy="944244"/>
            <a:chOff x="5322442" y="4654169"/>
            <a:chExt cx="4061460" cy="944244"/>
          </a:xfrm>
        </p:grpSpPr>
        <p:sp>
          <p:nvSpPr>
            <p:cNvPr id="11" name="object 11"/>
            <p:cNvSpPr/>
            <p:nvPr/>
          </p:nvSpPr>
          <p:spPr>
            <a:xfrm>
              <a:off x="5463285" y="4660519"/>
              <a:ext cx="1608455" cy="931544"/>
            </a:xfrm>
            <a:custGeom>
              <a:avLst/>
              <a:gdLst/>
              <a:ahLst/>
              <a:cxnLst/>
              <a:rect l="l" t="t" r="r" b="b"/>
              <a:pathLst>
                <a:path w="1608454" h="931545">
                  <a:moveTo>
                    <a:pt x="0" y="67436"/>
                  </a:moveTo>
                  <a:lnTo>
                    <a:pt x="5304" y="41201"/>
                  </a:lnTo>
                  <a:lnTo>
                    <a:pt x="19764" y="19764"/>
                  </a:lnTo>
                  <a:lnTo>
                    <a:pt x="41201" y="5304"/>
                  </a:lnTo>
                  <a:lnTo>
                    <a:pt x="67437" y="0"/>
                  </a:lnTo>
                  <a:lnTo>
                    <a:pt x="1540510" y="0"/>
                  </a:lnTo>
                  <a:lnTo>
                    <a:pt x="1566745" y="5304"/>
                  </a:lnTo>
                  <a:lnTo>
                    <a:pt x="1588182" y="19764"/>
                  </a:lnTo>
                  <a:lnTo>
                    <a:pt x="1602642" y="41201"/>
                  </a:lnTo>
                  <a:lnTo>
                    <a:pt x="1607946" y="67436"/>
                  </a:lnTo>
                  <a:lnTo>
                    <a:pt x="1607946" y="336930"/>
                  </a:lnTo>
                  <a:lnTo>
                    <a:pt x="1602642" y="363146"/>
                  </a:lnTo>
                  <a:lnTo>
                    <a:pt x="1588182" y="384540"/>
                  </a:lnTo>
                  <a:lnTo>
                    <a:pt x="1566745" y="398956"/>
                  </a:lnTo>
                  <a:lnTo>
                    <a:pt x="1540510" y="404240"/>
                  </a:lnTo>
                  <a:lnTo>
                    <a:pt x="67437" y="404240"/>
                  </a:lnTo>
                  <a:lnTo>
                    <a:pt x="41201" y="398956"/>
                  </a:lnTo>
                  <a:lnTo>
                    <a:pt x="19764" y="384540"/>
                  </a:lnTo>
                  <a:lnTo>
                    <a:pt x="5304" y="363146"/>
                  </a:lnTo>
                  <a:lnTo>
                    <a:pt x="0" y="336930"/>
                  </a:lnTo>
                  <a:lnTo>
                    <a:pt x="0" y="67436"/>
                  </a:lnTo>
                  <a:close/>
                </a:path>
                <a:path w="1608454" h="931545">
                  <a:moveTo>
                    <a:pt x="0" y="595502"/>
                  </a:moveTo>
                  <a:lnTo>
                    <a:pt x="5280" y="569360"/>
                  </a:lnTo>
                  <a:lnTo>
                    <a:pt x="19669" y="548004"/>
                  </a:lnTo>
                  <a:lnTo>
                    <a:pt x="40987" y="533602"/>
                  </a:lnTo>
                  <a:lnTo>
                    <a:pt x="67055" y="528319"/>
                  </a:lnTo>
                  <a:lnTo>
                    <a:pt x="1540764" y="528319"/>
                  </a:lnTo>
                  <a:lnTo>
                    <a:pt x="1566906" y="533602"/>
                  </a:lnTo>
                  <a:lnTo>
                    <a:pt x="1588262" y="548004"/>
                  </a:lnTo>
                  <a:lnTo>
                    <a:pt x="1602664" y="569360"/>
                  </a:lnTo>
                  <a:lnTo>
                    <a:pt x="1607946" y="595502"/>
                  </a:lnTo>
                  <a:lnTo>
                    <a:pt x="1607946" y="863853"/>
                  </a:lnTo>
                  <a:lnTo>
                    <a:pt x="1602664" y="889990"/>
                  </a:lnTo>
                  <a:lnTo>
                    <a:pt x="1588261" y="911332"/>
                  </a:lnTo>
                  <a:lnTo>
                    <a:pt x="1566906" y="925722"/>
                  </a:lnTo>
                  <a:lnTo>
                    <a:pt x="1540764" y="930998"/>
                  </a:lnTo>
                  <a:lnTo>
                    <a:pt x="67055" y="930998"/>
                  </a:lnTo>
                  <a:lnTo>
                    <a:pt x="40987" y="925722"/>
                  </a:lnTo>
                  <a:lnTo>
                    <a:pt x="19669" y="911332"/>
                  </a:lnTo>
                  <a:lnTo>
                    <a:pt x="5280" y="889990"/>
                  </a:lnTo>
                  <a:lnTo>
                    <a:pt x="0" y="863853"/>
                  </a:lnTo>
                  <a:lnTo>
                    <a:pt x="0" y="5955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22443" y="4862702"/>
              <a:ext cx="140970" cy="527685"/>
            </a:xfrm>
            <a:custGeom>
              <a:avLst/>
              <a:gdLst/>
              <a:ahLst/>
              <a:cxnLst/>
              <a:rect l="l" t="t" r="r" b="b"/>
              <a:pathLst>
                <a:path w="140970" h="527685">
                  <a:moveTo>
                    <a:pt x="140843" y="0"/>
                  </a:moveTo>
                  <a:lnTo>
                    <a:pt x="72390" y="50800"/>
                  </a:lnTo>
                  <a:lnTo>
                    <a:pt x="99288" y="64414"/>
                  </a:lnTo>
                  <a:lnTo>
                    <a:pt x="0" y="260604"/>
                  </a:lnTo>
                  <a:lnTo>
                    <a:pt x="7048" y="264160"/>
                  </a:lnTo>
                  <a:lnTo>
                    <a:pt x="0" y="267716"/>
                  </a:lnTo>
                  <a:lnTo>
                    <a:pt x="99301" y="463207"/>
                  </a:lnTo>
                  <a:lnTo>
                    <a:pt x="72390" y="476885"/>
                  </a:lnTo>
                  <a:lnTo>
                    <a:pt x="140843" y="527558"/>
                  </a:lnTo>
                  <a:lnTo>
                    <a:pt x="140538" y="476885"/>
                  </a:lnTo>
                  <a:lnTo>
                    <a:pt x="140525" y="474472"/>
                  </a:lnTo>
                  <a:lnTo>
                    <a:pt x="140411" y="456031"/>
                  </a:lnTo>
                  <a:lnTo>
                    <a:pt x="140335" y="442341"/>
                  </a:lnTo>
                  <a:lnTo>
                    <a:pt x="113423" y="456031"/>
                  </a:lnTo>
                  <a:lnTo>
                    <a:pt x="15900" y="264160"/>
                  </a:lnTo>
                  <a:lnTo>
                    <a:pt x="113474" y="71589"/>
                  </a:lnTo>
                  <a:lnTo>
                    <a:pt x="140462" y="85217"/>
                  </a:lnTo>
                  <a:lnTo>
                    <a:pt x="140563" y="60198"/>
                  </a:lnTo>
                  <a:lnTo>
                    <a:pt x="140601" y="53086"/>
                  </a:lnTo>
                  <a:lnTo>
                    <a:pt x="14084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04963" y="4660519"/>
              <a:ext cx="2172970" cy="931544"/>
            </a:xfrm>
            <a:custGeom>
              <a:avLst/>
              <a:gdLst/>
              <a:ahLst/>
              <a:cxnLst/>
              <a:rect l="l" t="t" r="r" b="b"/>
              <a:pathLst>
                <a:path w="2172970" h="931545">
                  <a:moveTo>
                    <a:pt x="0" y="67436"/>
                  </a:moveTo>
                  <a:lnTo>
                    <a:pt x="5304" y="41201"/>
                  </a:lnTo>
                  <a:lnTo>
                    <a:pt x="19764" y="19764"/>
                  </a:lnTo>
                  <a:lnTo>
                    <a:pt x="41201" y="5304"/>
                  </a:lnTo>
                  <a:lnTo>
                    <a:pt x="67436" y="0"/>
                  </a:lnTo>
                  <a:lnTo>
                    <a:pt x="2105025" y="0"/>
                  </a:lnTo>
                  <a:lnTo>
                    <a:pt x="2131260" y="5304"/>
                  </a:lnTo>
                  <a:lnTo>
                    <a:pt x="2152697" y="19764"/>
                  </a:lnTo>
                  <a:lnTo>
                    <a:pt x="2167157" y="41201"/>
                  </a:lnTo>
                  <a:lnTo>
                    <a:pt x="2172461" y="67436"/>
                  </a:lnTo>
                  <a:lnTo>
                    <a:pt x="2172461" y="336930"/>
                  </a:lnTo>
                  <a:lnTo>
                    <a:pt x="2167157" y="363146"/>
                  </a:lnTo>
                  <a:lnTo>
                    <a:pt x="2152697" y="384540"/>
                  </a:lnTo>
                  <a:lnTo>
                    <a:pt x="2131260" y="398956"/>
                  </a:lnTo>
                  <a:lnTo>
                    <a:pt x="2105025" y="404240"/>
                  </a:lnTo>
                  <a:lnTo>
                    <a:pt x="67436" y="404240"/>
                  </a:lnTo>
                  <a:lnTo>
                    <a:pt x="41201" y="398956"/>
                  </a:lnTo>
                  <a:lnTo>
                    <a:pt x="19764" y="384540"/>
                  </a:lnTo>
                  <a:lnTo>
                    <a:pt x="5304" y="363146"/>
                  </a:lnTo>
                  <a:lnTo>
                    <a:pt x="0" y="336930"/>
                  </a:lnTo>
                  <a:lnTo>
                    <a:pt x="0" y="67436"/>
                  </a:lnTo>
                  <a:close/>
                </a:path>
                <a:path w="2172970" h="931545">
                  <a:moveTo>
                    <a:pt x="0" y="595502"/>
                  </a:moveTo>
                  <a:lnTo>
                    <a:pt x="5282" y="569360"/>
                  </a:lnTo>
                  <a:lnTo>
                    <a:pt x="19685" y="548004"/>
                  </a:lnTo>
                  <a:lnTo>
                    <a:pt x="41040" y="533602"/>
                  </a:lnTo>
                  <a:lnTo>
                    <a:pt x="67182" y="528319"/>
                  </a:lnTo>
                  <a:lnTo>
                    <a:pt x="2105279" y="528319"/>
                  </a:lnTo>
                  <a:lnTo>
                    <a:pt x="2131421" y="533602"/>
                  </a:lnTo>
                  <a:lnTo>
                    <a:pt x="2152777" y="548004"/>
                  </a:lnTo>
                  <a:lnTo>
                    <a:pt x="2167179" y="569360"/>
                  </a:lnTo>
                  <a:lnTo>
                    <a:pt x="2172461" y="595502"/>
                  </a:lnTo>
                  <a:lnTo>
                    <a:pt x="2172461" y="863853"/>
                  </a:lnTo>
                  <a:lnTo>
                    <a:pt x="2167179" y="889990"/>
                  </a:lnTo>
                  <a:lnTo>
                    <a:pt x="2152776" y="911332"/>
                  </a:lnTo>
                  <a:lnTo>
                    <a:pt x="2131421" y="925722"/>
                  </a:lnTo>
                  <a:lnTo>
                    <a:pt x="2105279" y="930998"/>
                  </a:lnTo>
                  <a:lnTo>
                    <a:pt x="67182" y="930998"/>
                  </a:lnTo>
                  <a:lnTo>
                    <a:pt x="41040" y="925722"/>
                  </a:lnTo>
                  <a:lnTo>
                    <a:pt x="19684" y="911332"/>
                  </a:lnTo>
                  <a:lnTo>
                    <a:pt x="5282" y="889990"/>
                  </a:lnTo>
                  <a:lnTo>
                    <a:pt x="0" y="863853"/>
                  </a:lnTo>
                  <a:lnTo>
                    <a:pt x="0" y="5955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511156" y="5848629"/>
            <a:ext cx="1527810" cy="6572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latin typeface="Calibri"/>
                <a:cs typeface="Calibri"/>
              </a:rPr>
              <a:t>Reconstructed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Matrix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60592" y="5850597"/>
            <a:ext cx="3616960" cy="6565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606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65"/>
              </a:spcBef>
            </a:pPr>
            <a:r>
              <a:rPr sz="2000" b="1" spc="-50" dirty="0">
                <a:latin typeface="Calibri"/>
                <a:cs typeface="Calibri"/>
              </a:rPr>
              <a:t>Top-</a:t>
            </a:r>
            <a:r>
              <a:rPr sz="2000" b="1" dirty="0">
                <a:latin typeface="Calibri"/>
                <a:cs typeface="Calibri"/>
              </a:rPr>
              <a:t>N </a:t>
            </a:r>
            <a:r>
              <a:rPr sz="2000" b="1" spc="-10" dirty="0">
                <a:latin typeface="Calibri"/>
                <a:cs typeface="Calibri"/>
              </a:rPr>
              <a:t>Recommendations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4939" y="5090033"/>
            <a:ext cx="175006" cy="762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7120" y="5089397"/>
            <a:ext cx="175132" cy="76200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123276" y="5593130"/>
            <a:ext cx="76200" cy="257810"/>
          </a:xfrm>
          <a:custGeom>
            <a:avLst/>
            <a:gdLst/>
            <a:ahLst/>
            <a:cxnLst/>
            <a:rect l="l" t="t" r="r" b="b"/>
            <a:pathLst>
              <a:path w="76200" h="257810">
                <a:moveTo>
                  <a:pt x="46037" y="63500"/>
                </a:moveTo>
                <a:lnTo>
                  <a:pt x="30162" y="63500"/>
                </a:lnTo>
                <a:lnTo>
                  <a:pt x="30162" y="257479"/>
                </a:lnTo>
                <a:lnTo>
                  <a:pt x="46037" y="257479"/>
                </a:lnTo>
                <a:lnTo>
                  <a:pt x="46037" y="63500"/>
                </a:lnTo>
                <a:close/>
              </a:path>
              <a:path w="76200" h="257810">
                <a:moveTo>
                  <a:pt x="38100" y="0"/>
                </a:moveTo>
                <a:lnTo>
                  <a:pt x="0" y="76200"/>
                </a:lnTo>
                <a:lnTo>
                  <a:pt x="30162" y="76200"/>
                </a:lnTo>
                <a:lnTo>
                  <a:pt x="30162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257810">
                <a:moveTo>
                  <a:pt x="69850" y="63500"/>
                </a:moveTo>
                <a:lnTo>
                  <a:pt x="46037" y="63500"/>
                </a:lnTo>
                <a:lnTo>
                  <a:pt x="46037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77426" y="6139789"/>
            <a:ext cx="133857" cy="7618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581269" y="4698619"/>
            <a:ext cx="3683635" cy="82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9425" algn="l"/>
              </a:tabLst>
            </a:pPr>
            <a:r>
              <a:rPr sz="1800" dirty="0">
                <a:latin typeface="Calibri"/>
                <a:cs typeface="Calibri"/>
              </a:rPr>
              <a:t>User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Matrix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W</a:t>
            </a:r>
            <a:r>
              <a:rPr sz="1800" dirty="0">
                <a:latin typeface="Calibri"/>
                <a:cs typeface="Calibri"/>
              </a:rPr>
              <a:t>	User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Latent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  <a:spcBef>
                <a:spcPts val="1995"/>
              </a:spcBef>
              <a:tabLst>
                <a:tab pos="1749425" algn="l"/>
              </a:tabLst>
            </a:pPr>
            <a:r>
              <a:rPr sz="1800" dirty="0">
                <a:latin typeface="Calibri"/>
                <a:cs typeface="Calibri"/>
              </a:rPr>
              <a:t>Item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Matrix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H</a:t>
            </a:r>
            <a:r>
              <a:rPr sz="1800" dirty="0">
                <a:latin typeface="Calibri"/>
                <a:cs typeface="Calibri"/>
              </a:rPr>
              <a:t>	Item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Latent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071232" y="4824603"/>
            <a:ext cx="133985" cy="603885"/>
            <a:chOff x="7071232" y="4824603"/>
            <a:chExt cx="133985" cy="60388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1232" y="4824603"/>
              <a:ext cx="133731" cy="76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1232" y="5352161"/>
              <a:ext cx="133731" cy="762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511156" y="4660556"/>
            <a:ext cx="1527810" cy="93281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 marL="118745" marR="109220" indent="339725">
              <a:lnSpc>
                <a:spcPct val="100000"/>
              </a:lnSpc>
              <a:spcBef>
                <a:spcPts val="1400"/>
              </a:spcBef>
            </a:pPr>
            <a:r>
              <a:rPr sz="1800" spc="-10" dirty="0">
                <a:latin typeface="Calibri"/>
                <a:cs typeface="Calibri"/>
              </a:rPr>
              <a:t>Matrix Multiplication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370314" y="4859146"/>
            <a:ext cx="140970" cy="534670"/>
          </a:xfrm>
          <a:custGeom>
            <a:avLst/>
            <a:gdLst/>
            <a:ahLst/>
            <a:cxnLst/>
            <a:rect l="l" t="t" r="r" b="b"/>
            <a:pathLst>
              <a:path w="140970" h="534670">
                <a:moveTo>
                  <a:pt x="140843" y="267716"/>
                </a:moveTo>
                <a:lnTo>
                  <a:pt x="140614" y="216916"/>
                </a:lnTo>
                <a:lnTo>
                  <a:pt x="140601" y="214630"/>
                </a:lnTo>
                <a:lnTo>
                  <a:pt x="140512" y="196138"/>
                </a:lnTo>
                <a:lnTo>
                  <a:pt x="140462" y="182499"/>
                </a:lnTo>
                <a:lnTo>
                  <a:pt x="113474" y="196138"/>
                </a:lnTo>
                <a:lnTo>
                  <a:pt x="14097" y="0"/>
                </a:lnTo>
                <a:lnTo>
                  <a:pt x="0" y="7112"/>
                </a:lnTo>
                <a:lnTo>
                  <a:pt x="99288" y="203314"/>
                </a:lnTo>
                <a:lnTo>
                  <a:pt x="72390" y="216916"/>
                </a:lnTo>
                <a:lnTo>
                  <a:pt x="140843" y="267716"/>
                </a:lnTo>
                <a:close/>
              </a:path>
              <a:path w="140970" h="534670">
                <a:moveTo>
                  <a:pt x="140843" y="267716"/>
                </a:moveTo>
                <a:lnTo>
                  <a:pt x="72390" y="318389"/>
                </a:lnTo>
                <a:lnTo>
                  <a:pt x="99250" y="332054"/>
                </a:lnTo>
                <a:lnTo>
                  <a:pt x="0" y="527431"/>
                </a:lnTo>
                <a:lnTo>
                  <a:pt x="14097" y="534670"/>
                </a:lnTo>
                <a:lnTo>
                  <a:pt x="113372" y="339229"/>
                </a:lnTo>
                <a:lnTo>
                  <a:pt x="140335" y="352933"/>
                </a:lnTo>
                <a:lnTo>
                  <a:pt x="140449" y="332054"/>
                </a:lnTo>
                <a:lnTo>
                  <a:pt x="140525" y="320675"/>
                </a:lnTo>
                <a:lnTo>
                  <a:pt x="140843" y="26771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236707" y="5593130"/>
            <a:ext cx="76200" cy="255904"/>
          </a:xfrm>
          <a:custGeom>
            <a:avLst/>
            <a:gdLst/>
            <a:ahLst/>
            <a:cxnLst/>
            <a:rect l="l" t="t" r="r" b="b"/>
            <a:pathLst>
              <a:path w="76200" h="255904">
                <a:moveTo>
                  <a:pt x="30225" y="179298"/>
                </a:moveTo>
                <a:lnTo>
                  <a:pt x="0" y="179298"/>
                </a:lnTo>
                <a:lnTo>
                  <a:pt x="38100" y="255498"/>
                </a:lnTo>
                <a:lnTo>
                  <a:pt x="69850" y="191998"/>
                </a:lnTo>
                <a:lnTo>
                  <a:pt x="30225" y="191998"/>
                </a:lnTo>
                <a:lnTo>
                  <a:pt x="30225" y="179298"/>
                </a:lnTo>
                <a:close/>
              </a:path>
              <a:path w="76200" h="255904">
                <a:moveTo>
                  <a:pt x="46100" y="0"/>
                </a:moveTo>
                <a:lnTo>
                  <a:pt x="30225" y="0"/>
                </a:lnTo>
                <a:lnTo>
                  <a:pt x="30225" y="191998"/>
                </a:lnTo>
                <a:lnTo>
                  <a:pt x="46100" y="191998"/>
                </a:lnTo>
                <a:lnTo>
                  <a:pt x="46100" y="0"/>
                </a:lnTo>
                <a:close/>
              </a:path>
              <a:path w="76200" h="255904">
                <a:moveTo>
                  <a:pt x="76200" y="179298"/>
                </a:moveTo>
                <a:lnTo>
                  <a:pt x="46100" y="179298"/>
                </a:lnTo>
                <a:lnTo>
                  <a:pt x="46100" y="191998"/>
                </a:lnTo>
                <a:lnTo>
                  <a:pt x="69850" y="191998"/>
                </a:lnTo>
                <a:lnTo>
                  <a:pt x="76200" y="17929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60" dirty="0"/>
              <a:t>Flowchart</a:t>
            </a:r>
            <a:r>
              <a:rPr spc="-110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spc="-90" dirty="0"/>
              <a:t>Neural</a:t>
            </a:r>
            <a:r>
              <a:rPr spc="-110" dirty="0"/>
              <a:t> </a:t>
            </a:r>
            <a:r>
              <a:rPr spc="-25" dirty="0"/>
              <a:t>Network</a:t>
            </a:r>
            <a:r>
              <a:rPr spc="-120" dirty="0"/>
              <a:t> </a:t>
            </a:r>
            <a:r>
              <a:rPr spc="-90" dirty="0"/>
              <a:t>Embedding</a:t>
            </a:r>
            <a:r>
              <a:rPr spc="-105" dirty="0"/>
              <a:t> </a:t>
            </a:r>
            <a:r>
              <a:rPr spc="-55" dirty="0"/>
              <a:t>based </a:t>
            </a:r>
            <a:r>
              <a:rPr spc="-125" dirty="0"/>
              <a:t>recommender</a:t>
            </a:r>
            <a:r>
              <a:rPr spc="-5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5662" y="1792223"/>
            <a:ext cx="9881235" cy="2295525"/>
          </a:xfrm>
          <a:prstGeom prst="rect">
            <a:avLst/>
          </a:prstGeom>
          <a:ln w="9525">
            <a:solidFill>
              <a:srgbClr val="0A48C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9390" indent="-107950">
              <a:lnSpc>
                <a:spcPts val="1695"/>
              </a:lnSpc>
              <a:buChar char="-"/>
              <a:tabLst>
                <a:tab pos="199390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6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ID:</a:t>
            </a: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Begins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with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unique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identifier</a:t>
            </a:r>
            <a:r>
              <a:rPr sz="16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each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user.</a:t>
            </a:r>
            <a:endParaRPr sz="1600">
              <a:latin typeface="Calibri"/>
              <a:cs typeface="Calibri"/>
            </a:endParaRPr>
          </a:p>
          <a:p>
            <a:pPr marL="199390" indent="-107950">
              <a:lnSpc>
                <a:spcPct val="100000"/>
              </a:lnSpc>
              <a:spcBef>
                <a:spcPts val="420"/>
              </a:spcBef>
              <a:buChar char="-"/>
              <a:tabLst>
                <a:tab pos="199390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6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Embedding:</a:t>
            </a:r>
            <a:r>
              <a:rPr sz="1600" b="1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Transforms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ID</a:t>
            </a:r>
            <a:r>
              <a:rPr sz="16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into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dense</a:t>
            </a:r>
            <a:r>
              <a:rPr sz="16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vector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representation</a:t>
            </a:r>
            <a:r>
              <a:rPr sz="16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(embedding)</a:t>
            </a:r>
            <a:r>
              <a:rPr sz="16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analysis.</a:t>
            </a:r>
            <a:endParaRPr sz="1600">
              <a:latin typeface="Calibri"/>
              <a:cs typeface="Calibri"/>
            </a:endParaRPr>
          </a:p>
          <a:p>
            <a:pPr marL="199390" indent="-107950">
              <a:lnSpc>
                <a:spcPct val="100000"/>
              </a:lnSpc>
              <a:spcBef>
                <a:spcPts val="430"/>
              </a:spcBef>
              <a:buChar char="-"/>
              <a:tabLst>
                <a:tab pos="199390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6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ID:</a:t>
            </a:r>
            <a:r>
              <a:rPr sz="1600" b="1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Begins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with</a:t>
            </a:r>
            <a:r>
              <a:rPr sz="16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unique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identifier</a:t>
            </a:r>
            <a:r>
              <a:rPr sz="16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each</a:t>
            </a:r>
            <a:r>
              <a:rPr sz="16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item.</a:t>
            </a:r>
            <a:endParaRPr sz="1600">
              <a:latin typeface="Calibri"/>
              <a:cs typeface="Calibri"/>
            </a:endParaRPr>
          </a:p>
          <a:p>
            <a:pPr marL="199390" indent="-107950">
              <a:lnSpc>
                <a:spcPct val="100000"/>
              </a:lnSpc>
              <a:spcBef>
                <a:spcPts val="420"/>
              </a:spcBef>
              <a:buChar char="-"/>
              <a:tabLst>
                <a:tab pos="199390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600" b="1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Embedding:</a:t>
            </a:r>
            <a:r>
              <a:rPr sz="1600" b="1" spc="-2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C7CDB"/>
                </a:solidFill>
                <a:latin typeface="Calibri"/>
                <a:cs typeface="Calibri"/>
              </a:rPr>
              <a:t>Transforms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ID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into</a:t>
            </a:r>
            <a:r>
              <a:rPr sz="1600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dense</a:t>
            </a:r>
            <a:r>
              <a:rPr sz="16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vector</a:t>
            </a:r>
            <a:r>
              <a:rPr sz="16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representation</a:t>
            </a:r>
            <a:r>
              <a:rPr sz="16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(embedding)</a:t>
            </a:r>
            <a:r>
              <a:rPr sz="16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6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analysis.</a:t>
            </a:r>
            <a:endParaRPr sz="1600">
              <a:latin typeface="Calibri"/>
              <a:cs typeface="Calibri"/>
            </a:endParaRPr>
          </a:p>
          <a:p>
            <a:pPr marL="199390" indent="-107950">
              <a:lnSpc>
                <a:spcPct val="100000"/>
              </a:lnSpc>
              <a:spcBef>
                <a:spcPts val="420"/>
              </a:spcBef>
              <a:buChar char="-"/>
              <a:tabLst>
                <a:tab pos="199390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Neural</a:t>
            </a:r>
            <a:r>
              <a:rPr sz="1600" b="1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Network:</a:t>
            </a:r>
            <a:r>
              <a:rPr sz="1600" b="1" spc="-5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Combines</a:t>
            </a:r>
            <a:r>
              <a:rPr sz="16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user</a:t>
            </a:r>
            <a:r>
              <a:rPr sz="16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and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600" spc="-6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embeddings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as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input</a:t>
            </a:r>
            <a:r>
              <a:rPr sz="1600" spc="-6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to</a:t>
            </a:r>
            <a:r>
              <a:rPr sz="16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neural</a:t>
            </a:r>
            <a:r>
              <a:rPr sz="16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network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for</a:t>
            </a:r>
            <a:r>
              <a:rPr sz="1600" spc="-4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learning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interactions.</a:t>
            </a:r>
            <a:endParaRPr sz="1600">
              <a:latin typeface="Calibri"/>
              <a:cs typeface="Calibri"/>
            </a:endParaRPr>
          </a:p>
          <a:p>
            <a:pPr marL="199390" indent="-107950">
              <a:lnSpc>
                <a:spcPct val="100000"/>
              </a:lnSpc>
              <a:spcBef>
                <a:spcPts val="430"/>
              </a:spcBef>
              <a:buChar char="-"/>
              <a:tabLst>
                <a:tab pos="199390" algn="l"/>
              </a:tabLst>
            </a:pP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Prediction</a:t>
            </a:r>
            <a:r>
              <a:rPr sz="1600" b="1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C7CDB"/>
                </a:solidFill>
                <a:latin typeface="Calibri"/>
                <a:cs typeface="Calibri"/>
              </a:rPr>
              <a:t>Score:</a:t>
            </a:r>
            <a:r>
              <a:rPr sz="1600" b="1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Generates</a:t>
            </a:r>
            <a:r>
              <a:rPr sz="1600" spc="-2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6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score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 representing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likelihood</a:t>
            </a:r>
            <a:r>
              <a:rPr sz="1600" spc="-5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of</a:t>
            </a:r>
            <a:r>
              <a:rPr sz="16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user-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item</a:t>
            </a:r>
            <a:r>
              <a:rPr sz="16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interaction.</a:t>
            </a:r>
            <a:endParaRPr sz="1600">
              <a:latin typeface="Calibri"/>
              <a:cs typeface="Calibri"/>
            </a:endParaRPr>
          </a:p>
          <a:p>
            <a:pPr marL="199390" indent="-107950">
              <a:lnSpc>
                <a:spcPct val="100000"/>
              </a:lnSpc>
              <a:spcBef>
                <a:spcPts val="425"/>
              </a:spcBef>
              <a:buChar char="-"/>
              <a:tabLst>
                <a:tab pos="199390" algn="l"/>
              </a:tabLst>
            </a:pPr>
            <a:r>
              <a:rPr sz="1600" b="1" spc="-10" dirty="0">
                <a:solidFill>
                  <a:srgbClr val="1C7CDB"/>
                </a:solidFill>
                <a:latin typeface="Calibri"/>
                <a:cs typeface="Calibri"/>
              </a:rPr>
              <a:t>Recommendations:</a:t>
            </a:r>
            <a:r>
              <a:rPr sz="1600" b="1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Produces</a:t>
            </a:r>
            <a:r>
              <a:rPr sz="1600" spc="1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a</a:t>
            </a:r>
            <a:r>
              <a:rPr sz="16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final</a:t>
            </a:r>
            <a:r>
              <a:rPr sz="1600" spc="-3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list</a:t>
            </a:r>
            <a:r>
              <a:rPr sz="1600" spc="-40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of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 personalized</a:t>
            </a:r>
            <a:r>
              <a:rPr sz="1600" spc="-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recommendations</a:t>
            </a:r>
            <a:r>
              <a:rPr sz="1600" spc="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based on</a:t>
            </a:r>
            <a:r>
              <a:rPr sz="1600" spc="-1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C7CDB"/>
                </a:solidFill>
                <a:latin typeface="Calibri"/>
                <a:cs typeface="Calibri"/>
              </a:rPr>
              <a:t>the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 prediction</a:t>
            </a:r>
            <a:r>
              <a:rPr sz="1600" spc="-75" dirty="0">
                <a:solidFill>
                  <a:srgbClr val="1C7CD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C7CDB"/>
                </a:solidFill>
                <a:latin typeface="Calibri"/>
                <a:cs typeface="Calibri"/>
              </a:rPr>
              <a:t>scores.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7285" y="4354576"/>
            <a:ext cx="3914140" cy="931544"/>
          </a:xfrm>
          <a:custGeom>
            <a:avLst/>
            <a:gdLst/>
            <a:ahLst/>
            <a:cxnLst/>
            <a:rect l="l" t="t" r="r" b="b"/>
            <a:pathLst>
              <a:path w="3914140" h="931545">
                <a:moveTo>
                  <a:pt x="0" y="67437"/>
                </a:moveTo>
                <a:lnTo>
                  <a:pt x="5284" y="41201"/>
                </a:lnTo>
                <a:lnTo>
                  <a:pt x="19700" y="19764"/>
                </a:lnTo>
                <a:lnTo>
                  <a:pt x="41094" y="5304"/>
                </a:lnTo>
                <a:lnTo>
                  <a:pt x="67309" y="0"/>
                </a:lnTo>
                <a:lnTo>
                  <a:pt x="1540510" y="0"/>
                </a:lnTo>
                <a:lnTo>
                  <a:pt x="1566725" y="5304"/>
                </a:lnTo>
                <a:lnTo>
                  <a:pt x="1588119" y="19764"/>
                </a:lnTo>
                <a:lnTo>
                  <a:pt x="1602535" y="41201"/>
                </a:lnTo>
                <a:lnTo>
                  <a:pt x="1607819" y="67437"/>
                </a:lnTo>
                <a:lnTo>
                  <a:pt x="1607819" y="336931"/>
                </a:lnTo>
                <a:lnTo>
                  <a:pt x="1602535" y="363166"/>
                </a:lnTo>
                <a:lnTo>
                  <a:pt x="1588119" y="384603"/>
                </a:lnTo>
                <a:lnTo>
                  <a:pt x="1566725" y="399063"/>
                </a:lnTo>
                <a:lnTo>
                  <a:pt x="1540510" y="404368"/>
                </a:lnTo>
                <a:lnTo>
                  <a:pt x="67309" y="404368"/>
                </a:lnTo>
                <a:lnTo>
                  <a:pt x="41094" y="399063"/>
                </a:lnTo>
                <a:lnTo>
                  <a:pt x="19700" y="384603"/>
                </a:lnTo>
                <a:lnTo>
                  <a:pt x="5284" y="363166"/>
                </a:lnTo>
                <a:lnTo>
                  <a:pt x="0" y="336931"/>
                </a:lnTo>
                <a:lnTo>
                  <a:pt x="0" y="67437"/>
                </a:lnTo>
                <a:close/>
              </a:path>
              <a:path w="3914140" h="931545">
                <a:moveTo>
                  <a:pt x="0" y="595503"/>
                </a:moveTo>
                <a:lnTo>
                  <a:pt x="5262" y="569360"/>
                </a:lnTo>
                <a:lnTo>
                  <a:pt x="19621" y="548005"/>
                </a:lnTo>
                <a:lnTo>
                  <a:pt x="40933" y="533602"/>
                </a:lnTo>
                <a:lnTo>
                  <a:pt x="67056" y="528319"/>
                </a:lnTo>
                <a:lnTo>
                  <a:pt x="1540764" y="528319"/>
                </a:lnTo>
                <a:lnTo>
                  <a:pt x="1566886" y="533602"/>
                </a:lnTo>
                <a:lnTo>
                  <a:pt x="1588198" y="548005"/>
                </a:lnTo>
                <a:lnTo>
                  <a:pt x="1602557" y="569360"/>
                </a:lnTo>
                <a:lnTo>
                  <a:pt x="1607819" y="595503"/>
                </a:lnTo>
                <a:lnTo>
                  <a:pt x="1607819" y="863854"/>
                </a:lnTo>
                <a:lnTo>
                  <a:pt x="1602557" y="889996"/>
                </a:lnTo>
                <a:lnTo>
                  <a:pt x="1588198" y="911352"/>
                </a:lnTo>
                <a:lnTo>
                  <a:pt x="1566886" y="925754"/>
                </a:lnTo>
                <a:lnTo>
                  <a:pt x="1540764" y="931037"/>
                </a:lnTo>
                <a:lnTo>
                  <a:pt x="67056" y="931037"/>
                </a:lnTo>
                <a:lnTo>
                  <a:pt x="40933" y="925754"/>
                </a:lnTo>
                <a:lnTo>
                  <a:pt x="19621" y="911352"/>
                </a:lnTo>
                <a:lnTo>
                  <a:pt x="5262" y="889996"/>
                </a:lnTo>
                <a:lnTo>
                  <a:pt x="0" y="863854"/>
                </a:lnTo>
                <a:lnTo>
                  <a:pt x="0" y="595503"/>
                </a:lnTo>
                <a:close/>
              </a:path>
              <a:path w="3914140" h="931545">
                <a:moveTo>
                  <a:pt x="1741677" y="67437"/>
                </a:moveTo>
                <a:lnTo>
                  <a:pt x="1746962" y="41201"/>
                </a:lnTo>
                <a:lnTo>
                  <a:pt x="1761378" y="19764"/>
                </a:lnTo>
                <a:lnTo>
                  <a:pt x="1782772" y="5304"/>
                </a:lnTo>
                <a:lnTo>
                  <a:pt x="1808988" y="0"/>
                </a:lnTo>
                <a:lnTo>
                  <a:pt x="3846576" y="0"/>
                </a:lnTo>
                <a:lnTo>
                  <a:pt x="3872811" y="5304"/>
                </a:lnTo>
                <a:lnTo>
                  <a:pt x="3894248" y="19764"/>
                </a:lnTo>
                <a:lnTo>
                  <a:pt x="3908708" y="41201"/>
                </a:lnTo>
                <a:lnTo>
                  <a:pt x="3914013" y="67437"/>
                </a:lnTo>
                <a:lnTo>
                  <a:pt x="3914013" y="336931"/>
                </a:lnTo>
                <a:lnTo>
                  <a:pt x="3908708" y="363166"/>
                </a:lnTo>
                <a:lnTo>
                  <a:pt x="3894248" y="384603"/>
                </a:lnTo>
                <a:lnTo>
                  <a:pt x="3872811" y="399063"/>
                </a:lnTo>
                <a:lnTo>
                  <a:pt x="3846576" y="404368"/>
                </a:lnTo>
                <a:lnTo>
                  <a:pt x="1808988" y="404368"/>
                </a:lnTo>
                <a:lnTo>
                  <a:pt x="1782772" y="399063"/>
                </a:lnTo>
                <a:lnTo>
                  <a:pt x="1761378" y="384603"/>
                </a:lnTo>
                <a:lnTo>
                  <a:pt x="1746962" y="363166"/>
                </a:lnTo>
                <a:lnTo>
                  <a:pt x="1741677" y="336931"/>
                </a:lnTo>
                <a:lnTo>
                  <a:pt x="1741677" y="67437"/>
                </a:lnTo>
                <a:close/>
              </a:path>
              <a:path w="3914140" h="931545">
                <a:moveTo>
                  <a:pt x="1741677" y="595503"/>
                </a:moveTo>
                <a:lnTo>
                  <a:pt x="1746940" y="569360"/>
                </a:lnTo>
                <a:lnTo>
                  <a:pt x="1761299" y="548005"/>
                </a:lnTo>
                <a:lnTo>
                  <a:pt x="1782611" y="533602"/>
                </a:lnTo>
                <a:lnTo>
                  <a:pt x="1808734" y="528319"/>
                </a:lnTo>
                <a:lnTo>
                  <a:pt x="3846956" y="528319"/>
                </a:lnTo>
                <a:lnTo>
                  <a:pt x="3873025" y="533602"/>
                </a:lnTo>
                <a:lnTo>
                  <a:pt x="3894343" y="548005"/>
                </a:lnTo>
                <a:lnTo>
                  <a:pt x="3908732" y="569360"/>
                </a:lnTo>
                <a:lnTo>
                  <a:pt x="3914013" y="595503"/>
                </a:lnTo>
                <a:lnTo>
                  <a:pt x="3914013" y="863854"/>
                </a:lnTo>
                <a:lnTo>
                  <a:pt x="3908732" y="889996"/>
                </a:lnTo>
                <a:lnTo>
                  <a:pt x="3894343" y="911352"/>
                </a:lnTo>
                <a:lnTo>
                  <a:pt x="3873025" y="925754"/>
                </a:lnTo>
                <a:lnTo>
                  <a:pt x="3846956" y="931037"/>
                </a:lnTo>
                <a:lnTo>
                  <a:pt x="1808734" y="931037"/>
                </a:lnTo>
                <a:lnTo>
                  <a:pt x="1782611" y="925754"/>
                </a:lnTo>
                <a:lnTo>
                  <a:pt x="1761299" y="911352"/>
                </a:lnTo>
                <a:lnTo>
                  <a:pt x="1746940" y="889996"/>
                </a:lnTo>
                <a:lnTo>
                  <a:pt x="1741677" y="863854"/>
                </a:lnTo>
                <a:lnTo>
                  <a:pt x="1741677" y="595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58644" y="4392548"/>
            <a:ext cx="3155315" cy="82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0995" algn="l"/>
              </a:tabLst>
            </a:pPr>
            <a:r>
              <a:rPr sz="1800" dirty="0">
                <a:latin typeface="Calibri"/>
                <a:cs typeface="Calibri"/>
              </a:rPr>
              <a:t>User </a:t>
            </a:r>
            <a:r>
              <a:rPr sz="1800" spc="-25" dirty="0">
                <a:latin typeface="Calibri"/>
                <a:cs typeface="Calibri"/>
              </a:rPr>
              <a:t>ID</a:t>
            </a:r>
            <a:r>
              <a:rPr sz="1800" dirty="0">
                <a:latin typeface="Calibri"/>
                <a:cs typeface="Calibri"/>
              </a:rPr>
              <a:t>	User </a:t>
            </a:r>
            <a:r>
              <a:rPr sz="1800" spc="-10" dirty="0">
                <a:latin typeface="Calibri"/>
                <a:cs typeface="Calibri"/>
              </a:rPr>
              <a:t>Embedding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  <a:tabLst>
                <a:tab pos="1610995" algn="l"/>
              </a:tabLst>
            </a:pPr>
            <a:r>
              <a:rPr sz="1800" dirty="0">
                <a:latin typeface="Calibri"/>
                <a:cs typeface="Calibri"/>
              </a:rPr>
              <a:t>Item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ID</a:t>
            </a:r>
            <a:r>
              <a:rPr sz="1800" dirty="0">
                <a:latin typeface="Calibri"/>
                <a:cs typeface="Calibri"/>
              </a:rPr>
              <a:t>	Item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Embedding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15105" y="4518659"/>
            <a:ext cx="133985" cy="603885"/>
            <a:chOff x="3515105" y="4518659"/>
            <a:chExt cx="133985" cy="6038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5105" y="4518659"/>
              <a:ext cx="133858" cy="76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5105" y="5046217"/>
              <a:ext cx="133858" cy="762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955157" y="4354690"/>
            <a:ext cx="1032510" cy="93281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 marL="114935" marR="106680" indent="91440">
              <a:lnSpc>
                <a:spcPct val="100000"/>
              </a:lnSpc>
              <a:spcBef>
                <a:spcPts val="1400"/>
              </a:spcBef>
            </a:pPr>
            <a:r>
              <a:rPr sz="1800" spc="-10" dirty="0">
                <a:latin typeface="Calibri"/>
                <a:cs typeface="Calibri"/>
              </a:rPr>
              <a:t>Neural Network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14187" y="4553203"/>
            <a:ext cx="140970" cy="534670"/>
          </a:xfrm>
          <a:custGeom>
            <a:avLst/>
            <a:gdLst/>
            <a:ahLst/>
            <a:cxnLst/>
            <a:rect l="l" t="t" r="r" b="b"/>
            <a:pathLst>
              <a:path w="140970" h="534670">
                <a:moveTo>
                  <a:pt x="140970" y="267716"/>
                </a:moveTo>
                <a:lnTo>
                  <a:pt x="140665" y="216916"/>
                </a:lnTo>
                <a:lnTo>
                  <a:pt x="140652" y="214630"/>
                </a:lnTo>
                <a:lnTo>
                  <a:pt x="140538" y="196164"/>
                </a:lnTo>
                <a:lnTo>
                  <a:pt x="140462" y="182499"/>
                </a:lnTo>
                <a:lnTo>
                  <a:pt x="113499" y="196164"/>
                </a:lnTo>
                <a:lnTo>
                  <a:pt x="14224" y="0"/>
                </a:lnTo>
                <a:lnTo>
                  <a:pt x="0" y="7112"/>
                </a:lnTo>
                <a:lnTo>
                  <a:pt x="99402" y="203301"/>
                </a:lnTo>
                <a:lnTo>
                  <a:pt x="72517" y="216916"/>
                </a:lnTo>
                <a:lnTo>
                  <a:pt x="140970" y="267716"/>
                </a:lnTo>
                <a:close/>
              </a:path>
              <a:path w="140970" h="534670">
                <a:moveTo>
                  <a:pt x="140970" y="267716"/>
                </a:moveTo>
                <a:lnTo>
                  <a:pt x="72390" y="318389"/>
                </a:lnTo>
                <a:lnTo>
                  <a:pt x="99250" y="332054"/>
                </a:lnTo>
                <a:lnTo>
                  <a:pt x="0" y="527431"/>
                </a:lnTo>
                <a:lnTo>
                  <a:pt x="14224" y="534670"/>
                </a:lnTo>
                <a:lnTo>
                  <a:pt x="113474" y="339280"/>
                </a:lnTo>
                <a:lnTo>
                  <a:pt x="140335" y="352933"/>
                </a:lnTo>
                <a:lnTo>
                  <a:pt x="140436" y="339280"/>
                </a:lnTo>
                <a:lnTo>
                  <a:pt x="140512" y="327914"/>
                </a:lnTo>
                <a:lnTo>
                  <a:pt x="140563" y="320675"/>
                </a:lnTo>
                <a:lnTo>
                  <a:pt x="140970" y="26771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121397" y="4354690"/>
            <a:ext cx="1140460" cy="93281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 marL="314960" marR="90170" indent="-218440">
              <a:lnSpc>
                <a:spcPct val="100000"/>
              </a:lnSpc>
              <a:spcBef>
                <a:spcPts val="1400"/>
              </a:spcBef>
            </a:pPr>
            <a:r>
              <a:rPr sz="1800" spc="-10" dirty="0">
                <a:latin typeface="Calibri"/>
                <a:cs typeface="Calibri"/>
              </a:rPr>
              <a:t>Prediction Score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95081" y="4354576"/>
            <a:ext cx="2172335" cy="931544"/>
          </a:xfrm>
          <a:custGeom>
            <a:avLst/>
            <a:gdLst/>
            <a:ahLst/>
            <a:cxnLst/>
            <a:rect l="l" t="t" r="r" b="b"/>
            <a:pathLst>
              <a:path w="2172334" h="931545">
                <a:moveTo>
                  <a:pt x="0" y="155194"/>
                </a:moveTo>
                <a:lnTo>
                  <a:pt x="7910" y="106135"/>
                </a:lnTo>
                <a:lnTo>
                  <a:pt x="29939" y="63532"/>
                </a:lnTo>
                <a:lnTo>
                  <a:pt x="63532" y="29939"/>
                </a:lnTo>
                <a:lnTo>
                  <a:pt x="106135" y="7910"/>
                </a:lnTo>
                <a:lnTo>
                  <a:pt x="155194" y="0"/>
                </a:lnTo>
                <a:lnTo>
                  <a:pt x="2017141" y="0"/>
                </a:lnTo>
                <a:lnTo>
                  <a:pt x="2066199" y="7910"/>
                </a:lnTo>
                <a:lnTo>
                  <a:pt x="2108802" y="29939"/>
                </a:lnTo>
                <a:lnTo>
                  <a:pt x="2142395" y="63532"/>
                </a:lnTo>
                <a:lnTo>
                  <a:pt x="2164424" y="106135"/>
                </a:lnTo>
                <a:lnTo>
                  <a:pt x="2172335" y="155194"/>
                </a:lnTo>
                <a:lnTo>
                  <a:pt x="2172335" y="775843"/>
                </a:lnTo>
                <a:lnTo>
                  <a:pt x="2164424" y="824901"/>
                </a:lnTo>
                <a:lnTo>
                  <a:pt x="2142395" y="867504"/>
                </a:lnTo>
                <a:lnTo>
                  <a:pt x="2108802" y="901097"/>
                </a:lnTo>
                <a:lnTo>
                  <a:pt x="2066199" y="923126"/>
                </a:lnTo>
                <a:lnTo>
                  <a:pt x="2017141" y="931037"/>
                </a:lnTo>
                <a:lnTo>
                  <a:pt x="155194" y="931037"/>
                </a:lnTo>
                <a:lnTo>
                  <a:pt x="106135" y="923126"/>
                </a:lnTo>
                <a:lnTo>
                  <a:pt x="63532" y="901097"/>
                </a:lnTo>
                <a:lnTo>
                  <a:pt x="29939" y="867504"/>
                </a:lnTo>
                <a:lnTo>
                  <a:pt x="7910" y="824901"/>
                </a:lnTo>
                <a:lnTo>
                  <a:pt x="0" y="775843"/>
                </a:lnTo>
                <a:lnTo>
                  <a:pt x="0" y="15519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583548" y="4655946"/>
            <a:ext cx="1797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Recommendations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7540" y="4782820"/>
            <a:ext cx="133857" cy="762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61222" y="4782439"/>
            <a:ext cx="133857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150" dirty="0"/>
              <a:t>Compare</a:t>
            </a:r>
            <a:r>
              <a:rPr spc="-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0" dirty="0"/>
              <a:t>performance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45" dirty="0"/>
              <a:t>collaborative- </a:t>
            </a:r>
            <a:r>
              <a:rPr dirty="0"/>
              <a:t>filtering</a:t>
            </a:r>
            <a:r>
              <a:rPr spc="145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5662" y="1792351"/>
            <a:ext cx="4852035" cy="4700905"/>
          </a:xfrm>
          <a:prstGeom prst="rect">
            <a:avLst/>
          </a:prstGeom>
          <a:ln w="9525">
            <a:solidFill>
              <a:srgbClr val="0A48CA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1440" marR="353695">
              <a:lnSpc>
                <a:spcPts val="2590"/>
              </a:lnSpc>
              <a:spcBef>
                <a:spcPts val="260"/>
              </a:spcBef>
            </a:pPr>
            <a:r>
              <a:rPr sz="2400" spc="-13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4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1C7CDB"/>
                </a:solidFill>
                <a:latin typeface="Microsoft Sans Serif"/>
                <a:cs typeface="Microsoft Sans Serif"/>
              </a:rPr>
              <a:t>bar</a:t>
            </a:r>
            <a:r>
              <a:rPr sz="2400" spc="-9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chart</a:t>
            </a:r>
            <a:r>
              <a:rPr sz="24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85" dirty="0">
                <a:solidFill>
                  <a:srgbClr val="1C7CDB"/>
                </a:solidFill>
                <a:latin typeface="Microsoft Sans Serif"/>
                <a:cs typeface="Microsoft Sans Serif"/>
              </a:rPr>
              <a:t>compares</a:t>
            </a:r>
            <a:r>
              <a:rPr sz="2400" spc="-6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400" spc="-5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315" dirty="0">
                <a:solidFill>
                  <a:srgbClr val="1C7CDB"/>
                </a:solidFill>
                <a:latin typeface="Microsoft Sans Serif"/>
                <a:cs typeface="Microsoft Sans Serif"/>
              </a:rPr>
              <a:t>RMSE </a:t>
            </a:r>
            <a:r>
              <a:rPr sz="2400" spc="-80" dirty="0">
                <a:solidFill>
                  <a:srgbClr val="1C7CDB"/>
                </a:solidFill>
                <a:latin typeface="Microsoft Sans Serif"/>
                <a:cs typeface="Microsoft Sans Serif"/>
              </a:rPr>
              <a:t>values</a:t>
            </a:r>
            <a:r>
              <a:rPr sz="2400" spc="-4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1C7CDB"/>
                </a:solidFill>
                <a:latin typeface="Microsoft Sans Serif"/>
                <a:cs typeface="Microsoft Sans Serif"/>
              </a:rPr>
              <a:t>for</a:t>
            </a:r>
            <a:r>
              <a:rPr sz="2400" spc="-3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1C7CDB"/>
                </a:solidFill>
                <a:latin typeface="Microsoft Sans Serif"/>
                <a:cs typeface="Microsoft Sans Serif"/>
              </a:rPr>
              <a:t>three</a:t>
            </a:r>
            <a:r>
              <a:rPr sz="2400" spc="-4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recommendation </a:t>
            </a:r>
            <a:r>
              <a:rPr sz="2400" spc="-60" dirty="0">
                <a:solidFill>
                  <a:srgbClr val="1C7CDB"/>
                </a:solidFill>
                <a:latin typeface="Microsoft Sans Serif"/>
                <a:cs typeface="Microsoft Sans Serif"/>
              </a:rPr>
              <a:t>models:</a:t>
            </a:r>
            <a:r>
              <a:rPr sz="2400" spc="-10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1C7CDB"/>
                </a:solidFill>
                <a:latin typeface="Microsoft Sans Serif"/>
                <a:cs typeface="Microsoft Sans Serif"/>
              </a:rPr>
              <a:t>ANN,</a:t>
            </a:r>
            <a:r>
              <a:rPr sz="2400" spc="-4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1C7CDB"/>
                </a:solidFill>
                <a:latin typeface="Microsoft Sans Serif"/>
                <a:cs typeface="Microsoft Sans Serif"/>
              </a:rPr>
              <a:t>KNN,</a:t>
            </a:r>
            <a:r>
              <a:rPr sz="2400" spc="-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1C7CDB"/>
                </a:solidFill>
                <a:latin typeface="Microsoft Sans Serif"/>
                <a:cs typeface="Microsoft Sans Serif"/>
              </a:rPr>
              <a:t>and</a:t>
            </a:r>
            <a:r>
              <a:rPr sz="2400" spc="-6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NMF.</a:t>
            </a:r>
            <a:endParaRPr sz="2400">
              <a:latin typeface="Microsoft Sans Serif"/>
              <a:cs typeface="Microsoft Sans Serif"/>
            </a:endParaRPr>
          </a:p>
          <a:p>
            <a:pPr marL="91440" marR="184785">
              <a:lnSpc>
                <a:spcPct val="90000"/>
              </a:lnSpc>
              <a:spcBef>
                <a:spcPts val="960"/>
              </a:spcBef>
            </a:pPr>
            <a:r>
              <a:rPr sz="2400" spc="-110" dirty="0">
                <a:solidFill>
                  <a:srgbClr val="1C7CDB"/>
                </a:solidFill>
                <a:latin typeface="Microsoft Sans Serif"/>
                <a:cs typeface="Microsoft Sans Serif"/>
              </a:rPr>
              <a:t>ANN</a:t>
            </a:r>
            <a:r>
              <a:rPr sz="2400" spc="-5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1C7CDB"/>
                </a:solidFill>
                <a:latin typeface="Microsoft Sans Serif"/>
                <a:cs typeface="Microsoft Sans Serif"/>
              </a:rPr>
              <a:t>achieves</a:t>
            </a:r>
            <a:r>
              <a:rPr sz="2400" spc="-5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1C7CDB"/>
                </a:solidFill>
                <a:latin typeface="Microsoft Sans Serif"/>
                <a:cs typeface="Microsoft Sans Serif"/>
              </a:rPr>
              <a:t>the</a:t>
            </a:r>
            <a:r>
              <a:rPr sz="2400" spc="-5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lowest</a:t>
            </a:r>
            <a:r>
              <a:rPr sz="2400" spc="-5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270" dirty="0">
                <a:solidFill>
                  <a:srgbClr val="1C7CDB"/>
                </a:solidFill>
                <a:latin typeface="Microsoft Sans Serif"/>
                <a:cs typeface="Microsoft Sans Serif"/>
              </a:rPr>
              <a:t>RMSE, </a:t>
            </a:r>
            <a:r>
              <a:rPr sz="24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demonstrating</a:t>
            </a:r>
            <a:r>
              <a:rPr sz="2400" spc="-7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superior</a:t>
            </a:r>
            <a:r>
              <a:rPr sz="2400" spc="-6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1C7CDB"/>
                </a:solidFill>
                <a:latin typeface="Microsoft Sans Serif"/>
                <a:cs typeface="Microsoft Sans Serif"/>
              </a:rPr>
              <a:t>accuracy</a:t>
            </a:r>
            <a:r>
              <a:rPr sz="2400" spc="-5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in </a:t>
            </a:r>
            <a:r>
              <a:rPr sz="2400" dirty="0">
                <a:solidFill>
                  <a:srgbClr val="1C7CDB"/>
                </a:solidFill>
                <a:latin typeface="Microsoft Sans Serif"/>
                <a:cs typeface="Microsoft Sans Serif"/>
              </a:rPr>
              <a:t>predicting</a:t>
            </a:r>
            <a:r>
              <a:rPr sz="2400" spc="-10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40" dirty="0">
                <a:solidFill>
                  <a:srgbClr val="1C7CDB"/>
                </a:solidFill>
                <a:latin typeface="Microsoft Sans Serif"/>
                <a:cs typeface="Microsoft Sans Serif"/>
              </a:rPr>
              <a:t>user</a:t>
            </a:r>
            <a:r>
              <a:rPr sz="2400" spc="-8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preferences </a:t>
            </a:r>
            <a:r>
              <a:rPr sz="24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compared</a:t>
            </a:r>
            <a:r>
              <a:rPr sz="2400" spc="-8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50" dirty="0">
                <a:solidFill>
                  <a:srgbClr val="1C7CDB"/>
                </a:solidFill>
                <a:latin typeface="Microsoft Sans Serif"/>
                <a:cs typeface="Microsoft Sans Serif"/>
              </a:rPr>
              <a:t>to</a:t>
            </a:r>
            <a:r>
              <a:rPr sz="24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1C7CDB"/>
                </a:solidFill>
                <a:latin typeface="Microsoft Sans Serif"/>
                <a:cs typeface="Microsoft Sans Serif"/>
              </a:rPr>
              <a:t>KNN</a:t>
            </a:r>
            <a:r>
              <a:rPr sz="2400" spc="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1C7CDB"/>
                </a:solidFill>
                <a:latin typeface="Microsoft Sans Serif"/>
                <a:cs typeface="Microsoft Sans Serif"/>
              </a:rPr>
              <a:t>and</a:t>
            </a:r>
            <a:r>
              <a:rPr sz="24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1C7CDB"/>
                </a:solidFill>
                <a:latin typeface="Microsoft Sans Serif"/>
                <a:cs typeface="Microsoft Sans Serif"/>
              </a:rPr>
              <a:t>NMF,</a:t>
            </a:r>
            <a:r>
              <a:rPr sz="24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which </a:t>
            </a:r>
            <a:r>
              <a:rPr sz="2400" spc="-45" dirty="0">
                <a:solidFill>
                  <a:srgbClr val="1C7CDB"/>
                </a:solidFill>
                <a:latin typeface="Microsoft Sans Serif"/>
                <a:cs typeface="Microsoft Sans Serif"/>
              </a:rPr>
              <a:t>show</a:t>
            </a:r>
            <a:r>
              <a:rPr sz="2400" spc="-10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1C7CDB"/>
                </a:solidFill>
                <a:latin typeface="Microsoft Sans Serif"/>
                <a:cs typeface="Microsoft Sans Serif"/>
              </a:rPr>
              <a:t>similar</a:t>
            </a:r>
            <a:r>
              <a:rPr sz="2400" spc="-10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performance.</a:t>
            </a:r>
            <a:endParaRPr sz="2400">
              <a:latin typeface="Microsoft Sans Serif"/>
              <a:cs typeface="Microsoft Sans Serif"/>
            </a:endParaRPr>
          </a:p>
          <a:p>
            <a:pPr marL="91440" marR="142875" indent="91440">
              <a:lnSpc>
                <a:spcPct val="90000"/>
              </a:lnSpc>
              <a:spcBef>
                <a:spcPts val="1010"/>
              </a:spcBef>
            </a:pPr>
            <a:r>
              <a:rPr sz="2400" spc="-75" dirty="0">
                <a:solidFill>
                  <a:srgbClr val="1C7CDB"/>
                </a:solidFill>
                <a:latin typeface="Microsoft Sans Serif"/>
                <a:cs typeface="Microsoft Sans Serif"/>
              </a:rPr>
              <a:t>This</a:t>
            </a:r>
            <a:r>
              <a:rPr sz="2400" spc="-8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1C7CDB"/>
                </a:solidFill>
                <a:latin typeface="Microsoft Sans Serif"/>
                <a:cs typeface="Microsoft Sans Serif"/>
              </a:rPr>
              <a:t>highlights</a:t>
            </a:r>
            <a:r>
              <a:rPr sz="2400" spc="-9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1C7CDB"/>
                </a:solidFill>
                <a:latin typeface="Microsoft Sans Serif"/>
                <a:cs typeface="Microsoft Sans Serif"/>
              </a:rPr>
              <a:t>ANN's</a:t>
            </a:r>
            <a:r>
              <a:rPr sz="2400" spc="-6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75" dirty="0">
                <a:solidFill>
                  <a:srgbClr val="1C7CDB"/>
                </a:solidFill>
                <a:latin typeface="Microsoft Sans Serif"/>
                <a:cs typeface="Microsoft Sans Serif"/>
              </a:rPr>
              <a:t>effectiveness </a:t>
            </a:r>
            <a:r>
              <a:rPr sz="2400" dirty="0">
                <a:solidFill>
                  <a:srgbClr val="1C7CDB"/>
                </a:solidFill>
                <a:latin typeface="Microsoft Sans Serif"/>
                <a:cs typeface="Microsoft Sans Serif"/>
              </a:rPr>
              <a:t>in</a:t>
            </a:r>
            <a:r>
              <a:rPr sz="2400" spc="-6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generating</a:t>
            </a:r>
            <a:r>
              <a:rPr sz="2400" spc="-7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1C7CDB"/>
                </a:solidFill>
                <a:latin typeface="Microsoft Sans Serif"/>
                <a:cs typeface="Microsoft Sans Serif"/>
              </a:rPr>
              <a:t>more</a:t>
            </a:r>
            <a:r>
              <a:rPr sz="2400" spc="-6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precise </a:t>
            </a:r>
            <a:r>
              <a:rPr sz="2400" spc="-60" dirty="0">
                <a:solidFill>
                  <a:srgbClr val="1C7CDB"/>
                </a:solidFill>
                <a:latin typeface="Microsoft Sans Serif"/>
                <a:cs typeface="Microsoft Sans Serif"/>
              </a:rPr>
              <a:t>recommendations</a:t>
            </a:r>
            <a:r>
              <a:rPr sz="2400" spc="-100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over</a:t>
            </a:r>
            <a:r>
              <a:rPr sz="2400" spc="-105" dirty="0">
                <a:solidFill>
                  <a:srgbClr val="1C7CDB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traditional methods.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4965" y="1920154"/>
            <a:ext cx="5454343" cy="362642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09706" y="6080861"/>
            <a:ext cx="269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21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Arial"/>
              <a:buChar char="•"/>
              <a:tabLst>
                <a:tab pos="240665" algn="l"/>
              </a:tabLst>
            </a:pPr>
            <a:r>
              <a:rPr spc="-35" dirty="0"/>
              <a:t>Exploratory</a:t>
            </a:r>
            <a:r>
              <a:rPr spc="-65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spc="-75" dirty="0"/>
              <a:t>analysis</a:t>
            </a:r>
            <a:r>
              <a:rPr spc="-60" dirty="0"/>
              <a:t> </a:t>
            </a:r>
            <a:r>
              <a:rPr spc="-80" dirty="0"/>
              <a:t>was</a:t>
            </a:r>
            <a:r>
              <a:rPr spc="-40" dirty="0"/>
              <a:t> </a:t>
            </a:r>
            <a:r>
              <a:rPr spc="-35" dirty="0"/>
              <a:t>conducted</a:t>
            </a:r>
            <a:r>
              <a:rPr spc="-6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55" dirty="0"/>
              <a:t>user-</a:t>
            </a:r>
            <a:r>
              <a:rPr dirty="0"/>
              <a:t>item</a:t>
            </a:r>
            <a:r>
              <a:rPr spc="-50" dirty="0"/>
              <a:t> </a:t>
            </a:r>
            <a:r>
              <a:rPr spc="-10" dirty="0"/>
              <a:t>interaction</a:t>
            </a:r>
            <a:r>
              <a:rPr spc="-55" dirty="0"/>
              <a:t> </a:t>
            </a:r>
            <a:r>
              <a:rPr spc="-10" dirty="0"/>
              <a:t>datasets.</a:t>
            </a:r>
          </a:p>
          <a:p>
            <a:pPr marL="240665" indent="-227965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240665" algn="l"/>
              </a:tabLst>
            </a:pPr>
            <a:r>
              <a:rPr spc="-55" dirty="0"/>
              <a:t>Content-</a:t>
            </a:r>
            <a:r>
              <a:rPr spc="-60" dirty="0"/>
              <a:t>based</a:t>
            </a:r>
            <a:r>
              <a:rPr spc="-55" dirty="0"/>
              <a:t> </a:t>
            </a:r>
            <a:r>
              <a:rPr spc="-50" dirty="0"/>
              <a:t>recommendation </a:t>
            </a:r>
            <a:r>
              <a:rPr spc="-75" dirty="0"/>
              <a:t>systems</a:t>
            </a:r>
            <a:r>
              <a:rPr spc="-35" dirty="0"/>
              <a:t> </a:t>
            </a:r>
            <a:r>
              <a:rPr spc="-25" dirty="0"/>
              <a:t>were</a:t>
            </a:r>
            <a:r>
              <a:rPr spc="-35" dirty="0"/>
              <a:t> </a:t>
            </a:r>
            <a:r>
              <a:rPr spc="-30" dirty="0"/>
              <a:t>implemented</a:t>
            </a:r>
            <a:r>
              <a:rPr spc="-55" dirty="0"/>
              <a:t> </a:t>
            </a:r>
            <a:r>
              <a:rPr spc="-10" dirty="0"/>
              <a:t>using</a:t>
            </a:r>
            <a:r>
              <a:rPr spc="-45" dirty="0"/>
              <a:t> </a:t>
            </a:r>
            <a:r>
              <a:rPr spc="-50" dirty="0"/>
              <a:t>unsupervised </a:t>
            </a:r>
            <a:r>
              <a:rPr spc="-10" dirty="0"/>
              <a:t>models.</a:t>
            </a:r>
          </a:p>
          <a:p>
            <a:pPr marL="239395" marR="5080" indent="-226695" algn="just">
              <a:lnSpc>
                <a:spcPct val="100000"/>
              </a:lnSpc>
              <a:spcBef>
                <a:spcPts val="1410"/>
              </a:spcBef>
              <a:buFont typeface="Arial"/>
              <a:buChar char="•"/>
              <a:tabLst>
                <a:tab pos="241300" algn="l"/>
              </a:tabLst>
            </a:pPr>
            <a:r>
              <a:rPr spc="-65" dirty="0"/>
              <a:t>Supervised</a:t>
            </a:r>
            <a:r>
              <a:rPr spc="-35" dirty="0"/>
              <a:t> </a:t>
            </a:r>
            <a:r>
              <a:rPr spc="-20" dirty="0"/>
              <a:t>learning</a:t>
            </a:r>
            <a:r>
              <a:rPr spc="-40" dirty="0"/>
              <a:t> </a:t>
            </a:r>
            <a:r>
              <a:rPr spc="-25" dirty="0"/>
              <a:t>methods</a:t>
            </a:r>
            <a:r>
              <a:rPr spc="-15" dirty="0"/>
              <a:t> </a:t>
            </a:r>
            <a:r>
              <a:rPr spc="-35" dirty="0"/>
              <a:t>were</a:t>
            </a:r>
            <a:r>
              <a:rPr spc="-30" dirty="0"/>
              <a:t> </a:t>
            </a:r>
            <a:r>
              <a:rPr spc="-10" dirty="0"/>
              <a:t>ultimately</a:t>
            </a:r>
            <a:r>
              <a:rPr spc="-35" dirty="0"/>
              <a:t> employed </a:t>
            </a:r>
            <a:r>
              <a:rPr dirty="0"/>
              <a:t>to</a:t>
            </a:r>
            <a:r>
              <a:rPr spc="-10" dirty="0"/>
              <a:t> </a:t>
            </a:r>
            <a:r>
              <a:rPr spc="-20" dirty="0"/>
              <a:t>develop</a:t>
            </a:r>
            <a:r>
              <a:rPr spc="-30" dirty="0"/>
              <a:t> collaborative</a:t>
            </a:r>
            <a:r>
              <a:rPr spc="-40" dirty="0"/>
              <a:t> </a:t>
            </a:r>
            <a:r>
              <a:rPr dirty="0"/>
              <a:t>filtering-</a:t>
            </a:r>
            <a:r>
              <a:rPr spc="-10" dirty="0"/>
              <a:t>based 	</a:t>
            </a:r>
            <a:r>
              <a:rPr spc="-55" dirty="0"/>
              <a:t>recommender</a:t>
            </a:r>
            <a:r>
              <a:rPr spc="-40" dirty="0"/>
              <a:t> </a:t>
            </a:r>
            <a:r>
              <a:rPr spc="-10" dirty="0"/>
              <a:t>systems.</a:t>
            </a:r>
          </a:p>
          <a:p>
            <a:pPr marL="239395" marR="98425" indent="-226695" algn="just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For</a:t>
            </a:r>
            <a:r>
              <a:rPr spc="-4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30" dirty="0"/>
              <a:t>content-</a:t>
            </a:r>
            <a:r>
              <a:rPr spc="-65" dirty="0"/>
              <a:t>based</a:t>
            </a:r>
            <a:r>
              <a:rPr spc="-60" dirty="0"/>
              <a:t> </a:t>
            </a:r>
            <a:r>
              <a:rPr spc="-80" dirty="0"/>
              <a:t>systems,</a:t>
            </a:r>
            <a:r>
              <a:rPr spc="-30" dirty="0"/>
              <a:t> </a:t>
            </a:r>
            <a:r>
              <a:rPr spc="-10" dirty="0"/>
              <a:t>adjusting</a:t>
            </a:r>
            <a:r>
              <a:rPr spc="-6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optimizing</a:t>
            </a:r>
            <a:r>
              <a:rPr spc="-5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20" dirty="0"/>
              <a:t>similarity</a:t>
            </a:r>
            <a:r>
              <a:rPr spc="-55" dirty="0"/>
              <a:t> </a:t>
            </a:r>
            <a:r>
              <a:rPr spc="-10" dirty="0"/>
              <a:t>threshold</a:t>
            </a:r>
            <a:r>
              <a:rPr spc="-50" dirty="0"/>
              <a:t> </a:t>
            </a:r>
            <a:r>
              <a:rPr spc="-80" dirty="0"/>
              <a:t>was</a:t>
            </a:r>
            <a:r>
              <a:rPr spc="-35" dirty="0"/>
              <a:t> </a:t>
            </a:r>
            <a:r>
              <a:rPr spc="-25" dirty="0"/>
              <a:t>achieved 	</a:t>
            </a:r>
            <a:r>
              <a:rPr dirty="0"/>
              <a:t>by</a:t>
            </a:r>
            <a:r>
              <a:rPr spc="-20" dirty="0"/>
              <a:t> </a:t>
            </a:r>
            <a:r>
              <a:rPr spc="-30" dirty="0"/>
              <a:t>evaluating</a:t>
            </a:r>
            <a:r>
              <a:rPr spc="-5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65" dirty="0"/>
              <a:t>average</a:t>
            </a:r>
            <a:r>
              <a:rPr spc="-40" dirty="0"/>
              <a:t> </a:t>
            </a:r>
            <a:r>
              <a:rPr spc="-25" dirty="0"/>
              <a:t>number</a:t>
            </a:r>
            <a:r>
              <a:rPr spc="-3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55" dirty="0"/>
              <a:t>recommendations</a:t>
            </a:r>
            <a:r>
              <a:rPr spc="-50" dirty="0"/>
              <a:t> </a:t>
            </a:r>
            <a:r>
              <a:rPr dirty="0"/>
              <a:t>per</a:t>
            </a:r>
            <a:r>
              <a:rPr spc="-25" dirty="0"/>
              <a:t> </a:t>
            </a:r>
            <a:r>
              <a:rPr spc="-40" dirty="0"/>
              <a:t>user.</a:t>
            </a:r>
            <a:r>
              <a:rPr spc="-15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spc="-65" dirty="0"/>
              <a:t>average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approximately 	</a:t>
            </a:r>
            <a:r>
              <a:rPr spc="85" dirty="0"/>
              <a:t>20</a:t>
            </a:r>
            <a:r>
              <a:rPr dirty="0"/>
              <a:t> </a:t>
            </a:r>
            <a:r>
              <a:rPr spc="-50" dirty="0"/>
              <a:t>recommendations </a:t>
            </a:r>
            <a:r>
              <a:rPr dirty="0"/>
              <a:t>per </a:t>
            </a:r>
            <a:r>
              <a:rPr spc="-35" dirty="0"/>
              <a:t>user</a:t>
            </a:r>
            <a:r>
              <a:rPr spc="-15" dirty="0"/>
              <a:t> </a:t>
            </a:r>
            <a:r>
              <a:rPr spc="-75" dirty="0"/>
              <a:t>was</a:t>
            </a:r>
            <a:r>
              <a:rPr spc="-10" dirty="0"/>
              <a:t> </a:t>
            </a:r>
            <a:r>
              <a:rPr dirty="0"/>
              <a:t>found</a:t>
            </a:r>
            <a:r>
              <a:rPr spc="-2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optimal.</a:t>
            </a:r>
          </a:p>
          <a:p>
            <a:pPr marL="241300" marR="1523365" indent="-228600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241300" algn="l"/>
              </a:tabLst>
            </a:pPr>
            <a:r>
              <a:rPr spc="-25" dirty="0"/>
              <a:t>Among</a:t>
            </a:r>
            <a:r>
              <a:rPr spc="-40" dirty="0"/>
              <a:t> </a:t>
            </a:r>
            <a:r>
              <a:rPr dirty="0"/>
              <a:t>the</a:t>
            </a:r>
            <a:r>
              <a:rPr spc="-25" dirty="0"/>
              <a:t> collaborative</a:t>
            </a:r>
            <a:r>
              <a:rPr spc="-50" dirty="0"/>
              <a:t> </a:t>
            </a:r>
            <a:r>
              <a:rPr dirty="0"/>
              <a:t>filtering-</a:t>
            </a:r>
            <a:r>
              <a:rPr spc="-65" dirty="0"/>
              <a:t>based </a:t>
            </a:r>
            <a:r>
              <a:rPr spc="-80" dirty="0"/>
              <a:t>systems,</a:t>
            </a:r>
            <a:r>
              <a:rPr spc="-20" dirty="0"/>
              <a:t> </a:t>
            </a:r>
            <a:r>
              <a:rPr spc="-105" dirty="0"/>
              <a:t>ANN</a:t>
            </a:r>
            <a:r>
              <a:rPr spc="-30" dirty="0"/>
              <a:t> </a:t>
            </a:r>
            <a:r>
              <a:rPr spc="-10" dirty="0"/>
              <a:t>(Artificial</a:t>
            </a:r>
            <a:r>
              <a:rPr spc="-45" dirty="0"/>
              <a:t> Neural </a:t>
            </a:r>
            <a:r>
              <a:rPr spc="-25" dirty="0"/>
              <a:t>Networks) </a:t>
            </a:r>
            <a:r>
              <a:rPr spc="-35" dirty="0"/>
              <a:t>demonstrated</a:t>
            </a:r>
            <a:r>
              <a:rPr spc="-7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best</a:t>
            </a:r>
            <a:r>
              <a:rPr spc="-40" dirty="0"/>
              <a:t> </a:t>
            </a:r>
            <a:r>
              <a:rPr spc="-10" dirty="0"/>
              <a:t>performance.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8969" y="436625"/>
            <a:ext cx="26022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5" dirty="0"/>
              <a:t>Conclusions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09706" y="6080861"/>
            <a:ext cx="269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22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969" y="436625"/>
            <a:ext cx="20701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Appendix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7342" y="1441780"/>
            <a:ext cx="6820789" cy="47059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1914</Words>
  <Application>Microsoft Office PowerPoint</Application>
  <PresentationFormat>Widescreen</PresentationFormat>
  <Paragraphs>262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Microsoft Sans Serif</vt:lpstr>
      <vt:lpstr>Times New Roman</vt:lpstr>
      <vt:lpstr>Office Theme</vt:lpstr>
      <vt:lpstr>Build a Personalized Online Course Recommender System with Machine Learning</vt:lpstr>
      <vt:lpstr>Outline</vt:lpstr>
      <vt:lpstr>Introduction</vt:lpstr>
      <vt:lpstr>Exploratory Data Analysis</vt:lpstr>
      <vt:lpstr>Course counts per genre</vt:lpstr>
      <vt:lpstr>Course enrollment distribution</vt:lpstr>
      <vt:lpstr>20 most popular courses</vt:lpstr>
      <vt:lpstr>Word cloud of course titles</vt:lpstr>
      <vt:lpstr>Content-based Recommender System using Unsupervised Learning</vt:lpstr>
      <vt:lpstr>Flowchart of content-based recommender system using user profile and course genres</vt:lpstr>
      <vt:lpstr>Evaluation results of user profile-based recommender system</vt:lpstr>
      <vt:lpstr>Flowchart of content-based recommender system using course similarity</vt:lpstr>
      <vt:lpstr>Evaluation results of course similarity based recommender system</vt:lpstr>
      <vt:lpstr>Flowchart of clustering-based recommender system</vt:lpstr>
      <vt:lpstr>Evaluation results of clustering-based recommender system</vt:lpstr>
      <vt:lpstr>Collaborative-filtering Recommender System using Supervised Learning</vt:lpstr>
      <vt:lpstr>Flowchart of KNN based recommender system</vt:lpstr>
      <vt:lpstr>Flowchart of NMF based recommender system</vt:lpstr>
      <vt:lpstr>Flowchart of Neural Network Embedding based recommender system</vt:lpstr>
      <vt:lpstr>Compare the performance of collaborative- filtering models</vt:lpstr>
      <vt:lpstr>Conclusions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sadegh khajepour</cp:lastModifiedBy>
  <cp:revision>1</cp:revision>
  <dcterms:created xsi:type="dcterms:W3CDTF">2026-01-08T10:59:27Z</dcterms:created>
  <dcterms:modified xsi:type="dcterms:W3CDTF">2026-01-08T11:00:20Z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2025-02-17T00:00:00Z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2026-01-08T00:00:00Z</vt:filetime>
  </property>
  <property fmtid="{D5CDD505-2E9C-101B-9397-08002B2CF9AE}" pid="5" name="Producer">
    <vt:lpwstr>Microsoft® PowerPoint® LTSC</vt:lpwstr>
  </property>
</Properties>
</file>